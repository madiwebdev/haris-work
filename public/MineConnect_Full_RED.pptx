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6"/>
  </p:normalViewPr>
  <p:slideViewPr>
    <p:cSldViewPr snapToGrid="0" snapToObjects="1">
      <p:cViewPr varScale="1">
        <p:scale>
          <a:sx n="114" d="100"/>
          <a:sy n="114" d="100"/>
        </p:scale>
        <p:origin x="4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876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yourself, your seven-week placement at MineConnect, and the purpose of this presentation: to explain the work you performed, the business analysis methods you applied, and the value of the outputs you prepared.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placement combined technology analysis, business research, and ongoing association communications. Five refers to the Yapla areas documented in your assessment, not to five completed system implementations.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MineConnect is an Ontario mining supply and services association. The migration planning was an important context, but the organization also had ongoing communications and administrative needs.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one real example from each responsibility. Avoid presenting this as only a CRM placement: you also supported newsletters, event postings, research, and everyday office activities.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process you applied across the placement. Emphasize independent observation, critical thinking, and asking clear questions rather than making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explored Members, Membership Types, Payments, Website and Events and watched matching </a:t>
            </a:r>
            <a:r>
              <a:rPr dirty="0" err="1"/>
              <a:t>Yapla</a:t>
            </a:r>
            <a:r>
              <a:rPr dirty="0"/>
              <a:t> Academy training. My findings were based on what was visible in the account at the time, not on a completed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this was a preliminary Yapla setup review, not a finished implementation. Some records and membership types were not visible in the areas reviewed, and website content was still in progress. These observations raised questions for confirmation; they do not prove features are unavailable.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membership categories, renewal rules, and directory search needs. Lisa also highlighted the proposed AI-enhanced supplier directory. Explain it as a requirement or future direction being considered, not a feature you implemented.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your preliminary research for a possible Ontario-wide Mining Supply and Services study. You reviewed other studies, survey approaches, draft RFP sections and consultant criteria. The study itself was not completed during your placement.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sampling concept simply: to represent Ontario fairly, a future study should consider businesses from different regions, company sizes, industry subsectors and membership statuses. These are proposed dimensions, not survey results.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precise about scope: a Google Form was created. The report does not establish that both versions were fully deployed in Microsoft Forms. Explain how structured responses make follow-up easier.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specifically that you prepared and updated event postings on MineConnect's online Events Calendar. Also discuss newsletter article previews, source links, and checking content accuracy.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banner was an initial draft, not necessarily the final approved artwork. Describe communication with colleagues and adapting to changing priorities.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Distinguish formal artifacts from ongoing operational contributions. These outputs helped make findings, questions and follow-up decisions visible to the team.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one personal example of adapting to an unfamiliar task. Show the action you took and the skill developed rather than focusing on difficulties alone.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classroom-to-workplace connection concrete: membership review demonstrated requirements analysis; Yapla and questionnaire work demonstrated process analysis; progress updates and meetings demonstrated communication; self-guided training demonstrated adaptability.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Separate work completed from future steps. Your contributions were documented findings, requirements questions, early study planning, and communications support. Future priorities include validating membership rules, deciding on migration methods and testing workflows.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your portfolio in a browser. Briefly demonstrate one relevant project from semester one or two. Show a MineConnect artifact only if it is approved for public presentation; otherwise describe your work without showing confidential material.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Reflect in first person. Explain how the placement strengthened your confidence in business analysis and taught you that good implementation begins with understanding organizational needs.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MineConnect, your supervisor, colleagues, and Cambrian College for the opportunity.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haris-mineconnect.vercel.app/" TargetMode="Externa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ine_landscape_crop.png"/>
          <p:cNvPicPr>
            <a:picLocks noChangeAspect="1"/>
          </p:cNvPicPr>
          <p:nvPr/>
        </p:nvPicPr>
        <p:blipFill>
          <a:blip r:embed="rId3"/>
          <a:stretch>
            <a:fillRect/>
          </a:stretch>
        </p:blipFill>
        <p:spPr>
          <a:xfrm>
            <a:off x="7279995" y="0"/>
            <a:ext cx="4873752" cy="6858000"/>
          </a:xfrm>
          <a:prstGeom prst="rect">
            <a:avLst/>
          </a:prstGeom>
        </p:spPr>
      </p:pic>
      <p:sp>
        <p:nvSpPr>
          <p:cNvPr id="4" name="Rectangle 3"/>
          <p:cNvSpPr/>
          <p:nvPr/>
        </p:nvSpPr>
        <p:spPr>
          <a:xfrm>
            <a:off x="7132320" y="0"/>
            <a:ext cx="109728" cy="68580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7132320"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28816"/>
            <a:ext cx="12191695" cy="329184"/>
          </a:xfrm>
          <a:prstGeom prst="rect">
            <a:avLst/>
          </a:prstGeom>
          <a:solidFill>
            <a:srgbClr val="0613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c-logo-canada-white.png"/>
          <p:cNvPicPr>
            <a:picLocks noChangeAspect="1"/>
          </p:cNvPicPr>
          <p:nvPr/>
        </p:nvPicPr>
        <p:blipFill>
          <a:blip r:embed="rId4"/>
          <a:stretch>
            <a:fillRect/>
          </a:stretch>
        </p:blipFill>
        <p:spPr>
          <a:xfrm>
            <a:off x="502920" y="347472"/>
            <a:ext cx="2949489" cy="1152144"/>
          </a:xfrm>
          <a:prstGeom prst="rect">
            <a:avLst/>
          </a:prstGeom>
        </p:spPr>
      </p:pic>
      <p:sp>
        <p:nvSpPr>
          <p:cNvPr id="8" name="Rounded Rectangle 7"/>
          <p:cNvSpPr/>
          <p:nvPr/>
        </p:nvSpPr>
        <p:spPr>
          <a:xfrm>
            <a:off x="10469880" y="310896"/>
            <a:ext cx="987552" cy="987552"/>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s.jpeg"/>
          <p:cNvPicPr>
            <a:picLocks noChangeAspect="1"/>
          </p:cNvPicPr>
          <p:nvPr/>
        </p:nvPicPr>
        <p:blipFill>
          <a:blip r:embed="rId5"/>
          <a:stretch>
            <a:fillRect/>
          </a:stretch>
        </p:blipFill>
        <p:spPr>
          <a:xfrm>
            <a:off x="10561320" y="393192"/>
            <a:ext cx="804672" cy="804672"/>
          </a:xfrm>
          <a:prstGeom prst="rect">
            <a:avLst/>
          </a:prstGeom>
        </p:spPr>
      </p:pic>
      <p:sp>
        <p:nvSpPr>
          <p:cNvPr id="10" name="TextBox 9"/>
          <p:cNvSpPr txBox="1"/>
          <p:nvPr/>
        </p:nvSpPr>
        <p:spPr>
          <a:xfrm>
            <a:off x="658368" y="1975104"/>
            <a:ext cx="6400800" cy="457200"/>
          </a:xfrm>
          <a:prstGeom prst="rect">
            <a:avLst/>
          </a:prstGeom>
          <a:noFill/>
        </p:spPr>
        <p:txBody>
          <a:bodyPr wrap="square" lIns="18288" tIns="9144">
            <a:spAutoFit/>
          </a:bodyPr>
          <a:lstStyle/>
          <a:p>
            <a:pPr>
              <a:spcAft>
                <a:spcPts val="200"/>
              </a:spcAft>
              <a:defRPr sz="1700" b="1">
                <a:solidFill>
                  <a:srgbClr val="F2BD62"/>
                </a:solidFill>
                <a:latin typeface="Aptos"/>
              </a:defRPr>
            </a:pPr>
            <a:r>
              <a:rPr>
                <a:solidFill>
                  <a:srgbClr val="FFFFFF"/>
                </a:solidFill>
              </a:rPr>
              <a:t>FINAL WORK PLACEMENT</a:t>
            </a:r>
          </a:p>
        </p:txBody>
      </p:sp>
      <p:sp>
        <p:nvSpPr>
          <p:cNvPr id="11" name="TextBox 10"/>
          <p:cNvSpPr txBox="1"/>
          <p:nvPr/>
        </p:nvSpPr>
        <p:spPr>
          <a:xfrm>
            <a:off x="621792" y="2487168"/>
            <a:ext cx="6446520" cy="1536192"/>
          </a:xfrm>
          <a:prstGeom prst="rect">
            <a:avLst/>
          </a:prstGeom>
          <a:noFill/>
        </p:spPr>
        <p:txBody>
          <a:bodyPr wrap="square" lIns="18288" tIns="9144">
            <a:spAutoFit/>
          </a:bodyPr>
          <a:lstStyle/>
          <a:p>
            <a:pPr>
              <a:spcAft>
                <a:spcPts val="200"/>
              </a:spcAft>
              <a:defRPr sz="4200" b="1">
                <a:solidFill>
                  <a:srgbClr val="F7F8FA"/>
                </a:solidFill>
                <a:latin typeface="Aptos"/>
              </a:defRPr>
            </a:pPr>
            <a:r>
              <a:rPr>
                <a:solidFill>
                  <a:srgbClr val="FFFFFF"/>
                </a:solidFill>
              </a:rPr>
              <a:t>Business Analysis</a:t>
            </a:r>
          </a:p>
          <a:p>
            <a:pPr>
              <a:spcAft>
                <a:spcPts val="200"/>
              </a:spcAft>
              <a:defRPr sz="4200" b="1">
                <a:solidFill>
                  <a:srgbClr val="F7F8FA"/>
                </a:solidFill>
                <a:latin typeface="Aptos"/>
              </a:defRPr>
            </a:pPr>
            <a:r>
              <a:rPr>
                <a:solidFill>
                  <a:srgbClr val="FFFFFF"/>
                </a:solidFill>
              </a:rPr>
              <a:t>in Practice</a:t>
            </a:r>
          </a:p>
        </p:txBody>
      </p:sp>
      <p:sp>
        <p:nvSpPr>
          <p:cNvPr id="12" name="Rectangle 11"/>
          <p:cNvSpPr/>
          <p:nvPr/>
        </p:nvSpPr>
        <p:spPr>
          <a:xfrm>
            <a:off x="685800" y="4233672"/>
            <a:ext cx="960120" cy="640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 y="4517136"/>
            <a:ext cx="6217920" cy="347788"/>
          </a:xfrm>
          <a:prstGeom prst="rect">
            <a:avLst/>
          </a:prstGeom>
          <a:noFill/>
        </p:spPr>
        <p:txBody>
          <a:bodyPr wrap="square" lIns="18288" tIns="9144">
            <a:spAutoFit/>
          </a:bodyPr>
          <a:lstStyle/>
          <a:p>
            <a:pPr>
              <a:spcAft>
                <a:spcPts val="200"/>
              </a:spcAft>
              <a:defRPr sz="1900" b="0">
                <a:solidFill>
                  <a:srgbClr val="B4C5D5"/>
                </a:solidFill>
                <a:latin typeface="Aptos"/>
              </a:defRPr>
            </a:pPr>
            <a:r>
              <a:rPr lang="en-CA" dirty="0">
                <a:solidFill>
                  <a:srgbClr val="FFFFFF"/>
                </a:solidFill>
              </a:rPr>
              <a:t>P</a:t>
            </a:r>
            <a:r>
              <a:rPr dirty="0" err="1">
                <a:solidFill>
                  <a:srgbClr val="FFFFFF"/>
                </a:solidFill>
              </a:rPr>
              <a:t>lacement</a:t>
            </a:r>
            <a:r>
              <a:rPr dirty="0">
                <a:solidFill>
                  <a:srgbClr val="FFFFFF"/>
                </a:solidFill>
              </a:rPr>
              <a:t> at </a:t>
            </a:r>
            <a:r>
              <a:rPr dirty="0" err="1">
                <a:solidFill>
                  <a:srgbClr val="FFFFFF"/>
                </a:solidFill>
              </a:rPr>
              <a:t>MineConnect</a:t>
            </a:r>
            <a:endParaRPr dirty="0"/>
          </a:p>
        </p:txBody>
      </p:sp>
      <p:sp>
        <p:nvSpPr>
          <p:cNvPr id="14" name="TextBox 13"/>
          <p:cNvSpPr txBox="1"/>
          <p:nvPr/>
        </p:nvSpPr>
        <p:spPr>
          <a:xfrm>
            <a:off x="667512" y="5532120"/>
            <a:ext cx="6309360" cy="292608"/>
          </a:xfrm>
          <a:prstGeom prst="rect">
            <a:avLst/>
          </a:prstGeom>
          <a:noFill/>
        </p:spPr>
        <p:txBody>
          <a:bodyPr wrap="square" lIns="18288" tIns="9144">
            <a:spAutoFit/>
          </a:bodyPr>
          <a:lstStyle/>
          <a:p>
            <a:pPr>
              <a:spcAft>
                <a:spcPts val="200"/>
              </a:spcAft>
              <a:defRPr sz="1200" b="1">
                <a:solidFill>
                  <a:srgbClr val="F7F8FA"/>
                </a:solidFill>
                <a:latin typeface="Aptos"/>
              </a:defRPr>
            </a:pPr>
            <a:r>
              <a:rPr>
                <a:solidFill>
                  <a:srgbClr val="FFFFFF"/>
                </a:solidFill>
              </a:rPr>
              <a:t>MUHAMMAD HARIS  •  IT BUSINESS ANALYSIS (BAGC)</a:t>
            </a:r>
          </a:p>
        </p:txBody>
      </p:sp>
      <p:sp>
        <p:nvSpPr>
          <p:cNvPr id="15" name="TextBox 14"/>
          <p:cNvSpPr txBox="1"/>
          <p:nvPr/>
        </p:nvSpPr>
        <p:spPr>
          <a:xfrm>
            <a:off x="667512" y="5897880"/>
            <a:ext cx="6217920" cy="274320"/>
          </a:xfrm>
          <a:prstGeom prst="rect">
            <a:avLst/>
          </a:prstGeom>
          <a:noFill/>
        </p:spPr>
        <p:txBody>
          <a:bodyPr wrap="square" lIns="18288" tIns="9144">
            <a:spAutoFit/>
          </a:bodyPr>
          <a:lstStyle/>
          <a:p>
            <a:pPr>
              <a:spcAft>
                <a:spcPts val="200"/>
              </a:spcAft>
              <a:defRPr sz="1200" b="0">
                <a:solidFill>
                  <a:srgbClr val="F2BD62"/>
                </a:solidFill>
                <a:latin typeface="Aptos"/>
              </a:defRPr>
            </a:pPr>
            <a:r>
              <a:rPr>
                <a:solidFill>
                  <a:srgbClr val="FFFFFF"/>
                </a:solidFill>
              </a:rPr>
              <a:t>September 8 – October 23, 2026</a:t>
            </a:r>
          </a:p>
        </p:txBody>
      </p:sp>
      <p:pic>
        <p:nvPicPr>
          <p:cNvPr id="17" name="Picture 16">
            <a:extLst>
              <a:ext uri="{FF2B5EF4-FFF2-40B4-BE49-F238E27FC236}">
                <a16:creationId xmlns:a16="http://schemas.microsoft.com/office/drawing/2014/main" id="{C6F34BF7-C7DC-388F-B0D5-AAE36D10C81F}"/>
              </a:ext>
            </a:extLst>
          </p:cNvPr>
          <p:cNvPicPr>
            <a:picLocks noChangeAspect="1"/>
          </p:cNvPicPr>
          <p:nvPr/>
        </p:nvPicPr>
        <p:blipFill>
          <a:blip r:embed="rId6"/>
          <a:stretch>
            <a:fillRect/>
          </a:stretch>
        </p:blipFill>
        <p:spPr>
          <a:xfrm>
            <a:off x="-1" y="1"/>
            <a:ext cx="12220906" cy="68706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THE CONTEXT</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Placement at a glance</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02  /  20</a:t>
            </a:r>
          </a:p>
        </p:txBody>
      </p:sp>
      <p:sp>
        <p:nvSpPr>
          <p:cNvPr id="13" name="Rounded Rectangle 12"/>
          <p:cNvSpPr/>
          <p:nvPr/>
        </p:nvSpPr>
        <p:spPr>
          <a:xfrm>
            <a:off x="640080" y="2816352"/>
            <a:ext cx="3438144" cy="22402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3054096"/>
            <a:ext cx="3017520" cy="969264"/>
          </a:xfrm>
          <a:prstGeom prst="rect">
            <a:avLst/>
          </a:prstGeom>
          <a:noFill/>
        </p:spPr>
        <p:txBody>
          <a:bodyPr wrap="square" lIns="18288" tIns="9144">
            <a:spAutoFit/>
          </a:bodyPr>
          <a:lstStyle/>
          <a:p>
            <a:pPr>
              <a:spcAft>
                <a:spcPts val="200"/>
              </a:spcAft>
              <a:defRPr sz="5100" b="1">
                <a:solidFill>
                  <a:srgbClr val="F2BD62"/>
                </a:solidFill>
                <a:latin typeface="Aptos"/>
              </a:defRPr>
            </a:pPr>
            <a:r>
              <a:rPr>
                <a:solidFill>
                  <a:srgbClr val="FFFFFF"/>
                </a:solidFill>
              </a:rPr>
              <a:t>07</a:t>
            </a:r>
          </a:p>
        </p:txBody>
      </p:sp>
      <p:sp>
        <p:nvSpPr>
          <p:cNvPr id="15" name="TextBox 14"/>
          <p:cNvSpPr txBox="1"/>
          <p:nvPr/>
        </p:nvSpPr>
        <p:spPr>
          <a:xfrm>
            <a:off x="868680" y="4169663"/>
            <a:ext cx="3017520" cy="594360"/>
          </a:xfrm>
          <a:prstGeom prst="rect">
            <a:avLst/>
          </a:prstGeom>
          <a:noFill/>
        </p:spPr>
        <p:txBody>
          <a:bodyPr wrap="square" lIns="18288" tIns="9144">
            <a:spAutoFit/>
          </a:bodyPr>
          <a:lstStyle/>
          <a:p>
            <a:pPr>
              <a:spcAft>
                <a:spcPts val="200"/>
              </a:spcAft>
              <a:defRPr sz="1700" b="0">
                <a:solidFill>
                  <a:srgbClr val="F7F8FA"/>
                </a:solidFill>
                <a:latin typeface="Aptos"/>
              </a:defRPr>
            </a:pPr>
            <a:r>
              <a:rPr>
                <a:solidFill>
                  <a:srgbClr val="FFFFFF"/>
                </a:solidFill>
              </a:rPr>
              <a:t>Weeks of workplace learning</a:t>
            </a:r>
          </a:p>
        </p:txBody>
      </p:sp>
      <p:sp>
        <p:nvSpPr>
          <p:cNvPr id="16" name="Rounded Rectangle 15"/>
          <p:cNvSpPr/>
          <p:nvPr/>
        </p:nvSpPr>
        <p:spPr>
          <a:xfrm>
            <a:off x="4233672" y="2816352"/>
            <a:ext cx="3438144" cy="22402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53128" y="3054096"/>
            <a:ext cx="3017520" cy="969264"/>
          </a:xfrm>
          <a:prstGeom prst="rect">
            <a:avLst/>
          </a:prstGeom>
          <a:noFill/>
        </p:spPr>
        <p:txBody>
          <a:bodyPr wrap="square" lIns="18288" tIns="9144">
            <a:spAutoFit/>
          </a:bodyPr>
          <a:lstStyle/>
          <a:p>
            <a:pPr>
              <a:spcAft>
                <a:spcPts val="200"/>
              </a:spcAft>
              <a:defRPr sz="5100" b="1">
                <a:solidFill>
                  <a:srgbClr val="F2BD62"/>
                </a:solidFill>
                <a:latin typeface="Aptos"/>
              </a:defRPr>
            </a:pPr>
            <a:r>
              <a:rPr>
                <a:solidFill>
                  <a:srgbClr val="FFFFFF"/>
                </a:solidFill>
              </a:rPr>
              <a:t>05</a:t>
            </a:r>
          </a:p>
        </p:txBody>
      </p:sp>
      <p:sp>
        <p:nvSpPr>
          <p:cNvPr id="18" name="TextBox 17"/>
          <p:cNvSpPr txBox="1"/>
          <p:nvPr/>
        </p:nvSpPr>
        <p:spPr>
          <a:xfrm>
            <a:off x="4462272" y="4169663"/>
            <a:ext cx="3017520" cy="594360"/>
          </a:xfrm>
          <a:prstGeom prst="rect">
            <a:avLst/>
          </a:prstGeom>
          <a:noFill/>
        </p:spPr>
        <p:txBody>
          <a:bodyPr wrap="square" lIns="18288" tIns="9144">
            <a:spAutoFit/>
          </a:bodyPr>
          <a:lstStyle/>
          <a:p>
            <a:pPr>
              <a:spcAft>
                <a:spcPts val="200"/>
              </a:spcAft>
              <a:defRPr sz="1700" b="0">
                <a:solidFill>
                  <a:srgbClr val="F7F8FA"/>
                </a:solidFill>
                <a:latin typeface="Aptos"/>
              </a:defRPr>
            </a:pPr>
            <a:r>
              <a:rPr>
                <a:solidFill>
                  <a:srgbClr val="FFFFFF"/>
                </a:solidFill>
              </a:rPr>
              <a:t>Yapla modules explored</a:t>
            </a:r>
          </a:p>
        </p:txBody>
      </p:sp>
      <p:sp>
        <p:nvSpPr>
          <p:cNvPr id="19" name="Rounded Rectangle 18"/>
          <p:cNvSpPr/>
          <p:nvPr/>
        </p:nvSpPr>
        <p:spPr>
          <a:xfrm>
            <a:off x="7818120" y="2816352"/>
            <a:ext cx="3438144" cy="22402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37576" y="3054096"/>
            <a:ext cx="3017520" cy="969264"/>
          </a:xfrm>
          <a:prstGeom prst="rect">
            <a:avLst/>
          </a:prstGeom>
          <a:noFill/>
        </p:spPr>
        <p:txBody>
          <a:bodyPr wrap="square" lIns="18288" tIns="9144">
            <a:spAutoFit/>
          </a:bodyPr>
          <a:lstStyle/>
          <a:p>
            <a:pPr>
              <a:spcAft>
                <a:spcPts val="200"/>
              </a:spcAft>
              <a:defRPr sz="5100" b="1">
                <a:solidFill>
                  <a:srgbClr val="F2BD62"/>
                </a:solidFill>
                <a:latin typeface="Aptos"/>
              </a:defRPr>
            </a:pPr>
            <a:r>
              <a:rPr>
                <a:solidFill>
                  <a:srgbClr val="FFFFFF"/>
                </a:solidFill>
              </a:rPr>
              <a:t>03</a:t>
            </a:r>
          </a:p>
        </p:txBody>
      </p:sp>
      <p:sp>
        <p:nvSpPr>
          <p:cNvPr id="21" name="TextBox 20"/>
          <p:cNvSpPr txBox="1"/>
          <p:nvPr/>
        </p:nvSpPr>
        <p:spPr>
          <a:xfrm>
            <a:off x="8046720" y="4169663"/>
            <a:ext cx="3017520" cy="594360"/>
          </a:xfrm>
          <a:prstGeom prst="rect">
            <a:avLst/>
          </a:prstGeom>
          <a:noFill/>
        </p:spPr>
        <p:txBody>
          <a:bodyPr wrap="square" lIns="18288" tIns="9144">
            <a:spAutoFit/>
          </a:bodyPr>
          <a:lstStyle/>
          <a:p>
            <a:pPr>
              <a:spcAft>
                <a:spcPts val="200"/>
              </a:spcAft>
              <a:defRPr sz="1700" b="0">
                <a:solidFill>
                  <a:srgbClr val="F7F8FA"/>
                </a:solidFill>
                <a:latin typeface="Aptos"/>
              </a:defRPr>
            </a:pPr>
            <a:r>
              <a:rPr>
                <a:solidFill>
                  <a:srgbClr val="FFFFFF"/>
                </a:solidFill>
              </a:rPr>
              <a:t>Core workstreams</a:t>
            </a:r>
          </a:p>
        </p:txBody>
      </p:sp>
      <p:sp>
        <p:nvSpPr>
          <p:cNvPr id="22" name="TextBox 21"/>
          <p:cNvSpPr txBox="1"/>
          <p:nvPr/>
        </p:nvSpPr>
        <p:spPr>
          <a:xfrm>
            <a:off x="758952" y="5532120"/>
            <a:ext cx="10972800" cy="457200"/>
          </a:xfrm>
          <a:prstGeom prst="rect">
            <a:avLst/>
          </a:prstGeom>
          <a:noFill/>
        </p:spPr>
        <p:txBody>
          <a:bodyPr wrap="square" lIns="18288" tIns="9144">
            <a:spAutoFit/>
          </a:bodyPr>
          <a:lstStyle/>
          <a:p>
            <a:pPr>
              <a:spcAft>
                <a:spcPts val="200"/>
              </a:spcAft>
              <a:defRPr sz="1400" b="1">
                <a:solidFill>
                  <a:srgbClr val="B4C5D5"/>
                </a:solidFill>
                <a:latin typeface="Aptos"/>
              </a:defRPr>
            </a:pPr>
            <a:r>
              <a:rPr>
                <a:solidFill>
                  <a:srgbClr val="FFFFFF"/>
                </a:solidFill>
              </a:rPr>
              <a:t>PLATFORM DISCOVERY   •   RESEARCH &amp; REQUIREMENTS   •   COMMUNICATIONS &amp;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ORGANIZATION &amp; BUSINESS NEED</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Understanding MineConnect</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03  /  20</a:t>
            </a:r>
          </a:p>
        </p:txBody>
      </p:sp>
      <p:sp>
        <p:nvSpPr>
          <p:cNvPr id="13" name="Rounded Rectangle 12"/>
          <p:cNvSpPr/>
          <p:nvPr/>
        </p:nvSpPr>
        <p:spPr>
          <a:xfrm>
            <a:off x="658368" y="2788920"/>
            <a:ext cx="5321808"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788920"/>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008376"/>
            <a:ext cx="4937760"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Association operations</a:t>
            </a:r>
          </a:p>
        </p:txBody>
      </p:sp>
      <p:sp>
        <p:nvSpPr>
          <p:cNvPr id="16" name="TextBox 15"/>
          <p:cNvSpPr txBox="1"/>
          <p:nvPr/>
        </p:nvSpPr>
        <p:spPr>
          <a:xfrm>
            <a:off x="859536" y="3630168"/>
            <a:ext cx="4928616" cy="157276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Membership engagement, sector visibility, industry events, newsletters, and member services.</a:t>
            </a:r>
          </a:p>
        </p:txBody>
      </p:sp>
      <p:sp>
        <p:nvSpPr>
          <p:cNvPr id="17" name="Rounded Rectangle 16"/>
          <p:cNvSpPr/>
          <p:nvPr/>
        </p:nvSpPr>
        <p:spPr>
          <a:xfrm>
            <a:off x="6199632" y="2788920"/>
            <a:ext cx="5321808"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788920"/>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3008376"/>
            <a:ext cx="4937760"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Technology transition</a:t>
            </a:r>
          </a:p>
        </p:txBody>
      </p:sp>
      <p:sp>
        <p:nvSpPr>
          <p:cNvPr id="20" name="TextBox 19"/>
          <p:cNvSpPr txBox="1"/>
          <p:nvPr/>
        </p:nvSpPr>
        <p:spPr>
          <a:xfrm>
            <a:off x="6400800" y="3630168"/>
            <a:ext cx="4928616" cy="157276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Preparing to move membership-related processes from Microsoft Dynamics 365 to Yapla.</a:t>
            </a:r>
          </a:p>
        </p:txBody>
      </p:sp>
      <p:sp>
        <p:nvSpPr>
          <p:cNvPr id="21" name="Rounded Rectangle 20"/>
          <p:cNvSpPr/>
          <p:nvPr/>
        </p:nvSpPr>
        <p:spPr>
          <a:xfrm>
            <a:off x="1097280" y="5669280"/>
            <a:ext cx="9875520" cy="475488"/>
          </a:xfrm>
          <a:prstGeom prst="roundRect">
            <a:avLst>
              <a:gd name="adj" fmla="val 12000"/>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25880" y="5779008"/>
            <a:ext cx="9601200" cy="274320"/>
          </a:xfrm>
          <a:prstGeom prst="rect">
            <a:avLst/>
          </a:prstGeom>
          <a:noFill/>
        </p:spPr>
        <p:txBody>
          <a:bodyPr wrap="square" lIns="18288" tIns="9144">
            <a:spAutoFit/>
          </a:bodyPr>
          <a:lstStyle/>
          <a:p>
            <a:pPr>
              <a:spcAft>
                <a:spcPts val="200"/>
              </a:spcAft>
              <a:defRPr sz="1300" b="0">
                <a:solidFill>
                  <a:srgbClr val="F7F8FA"/>
                </a:solidFill>
                <a:latin typeface="Aptos"/>
              </a:defRPr>
            </a:pPr>
            <a:r>
              <a:rPr>
                <a:solidFill>
                  <a:srgbClr val="FFFFFF"/>
                </a:solidFill>
              </a:rPr>
              <a:t>Business needs: membership rules  •  billing  •  data migration  •  directory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WHAT I WORKED ON</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My scope of responsibility</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04  /  20</a:t>
            </a:r>
          </a:p>
        </p:txBody>
      </p:sp>
      <p:sp>
        <p:nvSpPr>
          <p:cNvPr id="13" name="Rounded Rectangle 12"/>
          <p:cNvSpPr/>
          <p:nvPr/>
        </p:nvSpPr>
        <p:spPr>
          <a:xfrm>
            <a:off x="658368" y="274320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295351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01</a:t>
            </a:r>
          </a:p>
        </p:txBody>
      </p:sp>
      <p:sp>
        <p:nvSpPr>
          <p:cNvPr id="15" name="TextBox 14"/>
          <p:cNvSpPr txBox="1"/>
          <p:nvPr/>
        </p:nvSpPr>
        <p:spPr>
          <a:xfrm>
            <a:off x="1545336" y="303580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Yapla platform discovery</a:t>
            </a:r>
          </a:p>
        </p:txBody>
      </p:sp>
      <p:sp>
        <p:nvSpPr>
          <p:cNvPr id="16" name="Rounded Rectangle 15"/>
          <p:cNvSpPr/>
          <p:nvPr/>
        </p:nvSpPr>
        <p:spPr>
          <a:xfrm>
            <a:off x="4526280" y="274320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09160" y="295351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02</a:t>
            </a:r>
          </a:p>
        </p:txBody>
      </p:sp>
      <p:sp>
        <p:nvSpPr>
          <p:cNvPr id="18" name="TextBox 17"/>
          <p:cNvSpPr txBox="1"/>
          <p:nvPr/>
        </p:nvSpPr>
        <p:spPr>
          <a:xfrm>
            <a:off x="5413248" y="303580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Membership requirements review</a:t>
            </a:r>
          </a:p>
        </p:txBody>
      </p:sp>
      <p:sp>
        <p:nvSpPr>
          <p:cNvPr id="19" name="Rounded Rectangle 18"/>
          <p:cNvSpPr/>
          <p:nvPr/>
        </p:nvSpPr>
        <p:spPr>
          <a:xfrm>
            <a:off x="8394192" y="274320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77072" y="295351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03</a:t>
            </a:r>
          </a:p>
        </p:txBody>
      </p:sp>
      <p:sp>
        <p:nvSpPr>
          <p:cNvPr id="21" name="TextBox 20"/>
          <p:cNvSpPr txBox="1"/>
          <p:nvPr/>
        </p:nvSpPr>
        <p:spPr>
          <a:xfrm>
            <a:off x="9281160" y="303580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MSS industry study research</a:t>
            </a:r>
          </a:p>
        </p:txBody>
      </p:sp>
      <p:sp>
        <p:nvSpPr>
          <p:cNvPr id="22" name="Rounded Rectangle 21"/>
          <p:cNvSpPr/>
          <p:nvPr/>
        </p:nvSpPr>
        <p:spPr>
          <a:xfrm>
            <a:off x="658368" y="425196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7" y="446227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04</a:t>
            </a:r>
          </a:p>
        </p:txBody>
      </p:sp>
      <p:sp>
        <p:nvSpPr>
          <p:cNvPr id="24" name="TextBox 23"/>
          <p:cNvSpPr txBox="1"/>
          <p:nvPr/>
        </p:nvSpPr>
        <p:spPr>
          <a:xfrm>
            <a:off x="1545336" y="454456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Digital member-visit forms</a:t>
            </a:r>
          </a:p>
        </p:txBody>
      </p:sp>
      <p:sp>
        <p:nvSpPr>
          <p:cNvPr id="25" name="Rounded Rectangle 24"/>
          <p:cNvSpPr/>
          <p:nvPr/>
        </p:nvSpPr>
        <p:spPr>
          <a:xfrm>
            <a:off x="4526280" y="425196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09160" y="446227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05</a:t>
            </a:r>
          </a:p>
        </p:txBody>
      </p:sp>
      <p:sp>
        <p:nvSpPr>
          <p:cNvPr id="27" name="TextBox 26"/>
          <p:cNvSpPr txBox="1"/>
          <p:nvPr/>
        </p:nvSpPr>
        <p:spPr>
          <a:xfrm>
            <a:off x="5413248" y="454456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Newsletters, events &amp; website</a:t>
            </a:r>
          </a:p>
        </p:txBody>
      </p:sp>
      <p:sp>
        <p:nvSpPr>
          <p:cNvPr id="28" name="Rounded Rectangle 27"/>
          <p:cNvSpPr/>
          <p:nvPr/>
        </p:nvSpPr>
        <p:spPr>
          <a:xfrm>
            <a:off x="8394192" y="4251960"/>
            <a:ext cx="3611880" cy="12801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77072" y="4462272"/>
            <a:ext cx="640080" cy="45720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06</a:t>
            </a:r>
          </a:p>
        </p:txBody>
      </p:sp>
      <p:sp>
        <p:nvSpPr>
          <p:cNvPr id="30" name="TextBox 29"/>
          <p:cNvSpPr txBox="1"/>
          <p:nvPr/>
        </p:nvSpPr>
        <p:spPr>
          <a:xfrm>
            <a:off x="9281160" y="4544568"/>
            <a:ext cx="2514600" cy="713232"/>
          </a:xfrm>
          <a:prstGeom prst="rect">
            <a:avLst/>
          </a:prstGeom>
          <a:noFill/>
        </p:spPr>
        <p:txBody>
          <a:bodyPr wrap="square" lIns="18288" tIns="9144">
            <a:spAutoFit/>
          </a:bodyPr>
          <a:lstStyle/>
          <a:p>
            <a:pPr>
              <a:spcAft>
                <a:spcPts val="200"/>
              </a:spcAft>
              <a:defRPr sz="1700" b="1">
                <a:solidFill>
                  <a:srgbClr val="F7F8FA"/>
                </a:solidFill>
                <a:latin typeface="Aptos"/>
              </a:defRPr>
            </a:pPr>
            <a:r>
              <a:rPr>
                <a:solidFill>
                  <a:srgbClr val="FFFFFF"/>
                </a:solidFill>
              </a:rPr>
              <a:t>Documentation &amp; office support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BUSINESS ANALYSIS PRACTICE</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How I approached the work</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05  /  20</a:t>
            </a:r>
          </a:p>
        </p:txBody>
      </p:sp>
      <p:sp>
        <p:nvSpPr>
          <p:cNvPr id="13" name="Rounded Rectangle 12"/>
          <p:cNvSpPr/>
          <p:nvPr/>
        </p:nvSpPr>
        <p:spPr>
          <a:xfrm>
            <a:off x="612648" y="2852928"/>
            <a:ext cx="2679192"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8" y="2852928"/>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 y="303580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01</a:t>
            </a:r>
          </a:p>
        </p:txBody>
      </p:sp>
      <p:sp>
        <p:nvSpPr>
          <p:cNvPr id="16" name="TextBox 15"/>
          <p:cNvSpPr txBox="1"/>
          <p:nvPr/>
        </p:nvSpPr>
        <p:spPr>
          <a:xfrm>
            <a:off x="813816" y="3575304"/>
            <a:ext cx="2295144"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OBSERVE</a:t>
            </a:r>
          </a:p>
        </p:txBody>
      </p:sp>
      <p:sp>
        <p:nvSpPr>
          <p:cNvPr id="17" name="TextBox 16"/>
          <p:cNvSpPr txBox="1"/>
          <p:nvPr/>
        </p:nvSpPr>
        <p:spPr>
          <a:xfrm>
            <a:off x="813816" y="4160520"/>
            <a:ext cx="2286000" cy="11612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Explore system screens and source materials</a:t>
            </a:r>
          </a:p>
        </p:txBody>
      </p:sp>
      <p:sp>
        <p:nvSpPr>
          <p:cNvPr id="18" name="TextBox 17"/>
          <p:cNvSpPr txBox="1"/>
          <p:nvPr/>
        </p:nvSpPr>
        <p:spPr>
          <a:xfrm>
            <a:off x="3264408" y="3886200"/>
            <a:ext cx="292608" cy="50292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a:t>
            </a:r>
          </a:p>
        </p:txBody>
      </p:sp>
      <p:sp>
        <p:nvSpPr>
          <p:cNvPr id="19" name="Rounded Rectangle 18"/>
          <p:cNvSpPr/>
          <p:nvPr/>
        </p:nvSpPr>
        <p:spPr>
          <a:xfrm>
            <a:off x="3529584" y="2852928"/>
            <a:ext cx="2679192"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529584" y="2852928"/>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30752" y="303580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02</a:t>
            </a:r>
          </a:p>
        </p:txBody>
      </p:sp>
      <p:sp>
        <p:nvSpPr>
          <p:cNvPr id="22" name="TextBox 21"/>
          <p:cNvSpPr txBox="1"/>
          <p:nvPr/>
        </p:nvSpPr>
        <p:spPr>
          <a:xfrm>
            <a:off x="3730752" y="3575304"/>
            <a:ext cx="2295144"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ANALYZE</a:t>
            </a:r>
          </a:p>
        </p:txBody>
      </p:sp>
      <p:sp>
        <p:nvSpPr>
          <p:cNvPr id="23" name="TextBox 22"/>
          <p:cNvSpPr txBox="1"/>
          <p:nvPr/>
        </p:nvSpPr>
        <p:spPr>
          <a:xfrm>
            <a:off x="3730752" y="4160520"/>
            <a:ext cx="2286000" cy="11612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Identify business rules, gaps and decisions</a:t>
            </a:r>
          </a:p>
        </p:txBody>
      </p:sp>
      <p:sp>
        <p:nvSpPr>
          <p:cNvPr id="24" name="TextBox 23"/>
          <p:cNvSpPr txBox="1"/>
          <p:nvPr/>
        </p:nvSpPr>
        <p:spPr>
          <a:xfrm>
            <a:off x="6181344" y="3886200"/>
            <a:ext cx="292608" cy="50292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a:t>
            </a:r>
          </a:p>
        </p:txBody>
      </p:sp>
      <p:sp>
        <p:nvSpPr>
          <p:cNvPr id="25" name="Rounded Rectangle 24"/>
          <p:cNvSpPr/>
          <p:nvPr/>
        </p:nvSpPr>
        <p:spPr>
          <a:xfrm>
            <a:off x="6446520" y="2852928"/>
            <a:ext cx="2679192"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46520" y="2852928"/>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47688" y="303580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03</a:t>
            </a:r>
          </a:p>
        </p:txBody>
      </p:sp>
      <p:sp>
        <p:nvSpPr>
          <p:cNvPr id="28" name="TextBox 27"/>
          <p:cNvSpPr txBox="1"/>
          <p:nvPr/>
        </p:nvSpPr>
        <p:spPr>
          <a:xfrm>
            <a:off x="6647688" y="3575304"/>
            <a:ext cx="2295144"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DOCUMENT</a:t>
            </a:r>
          </a:p>
        </p:txBody>
      </p:sp>
      <p:sp>
        <p:nvSpPr>
          <p:cNvPr id="29" name="TextBox 28"/>
          <p:cNvSpPr txBox="1"/>
          <p:nvPr/>
        </p:nvSpPr>
        <p:spPr>
          <a:xfrm>
            <a:off x="6647688" y="4160520"/>
            <a:ext cx="2286000" cy="11612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Prepare findings and planning materials</a:t>
            </a:r>
          </a:p>
        </p:txBody>
      </p:sp>
      <p:sp>
        <p:nvSpPr>
          <p:cNvPr id="30" name="TextBox 29"/>
          <p:cNvSpPr txBox="1"/>
          <p:nvPr/>
        </p:nvSpPr>
        <p:spPr>
          <a:xfrm>
            <a:off x="9098280" y="3886200"/>
            <a:ext cx="292608" cy="502920"/>
          </a:xfrm>
          <a:prstGeom prst="rect">
            <a:avLst/>
          </a:prstGeom>
          <a:noFill/>
        </p:spPr>
        <p:txBody>
          <a:bodyPr wrap="square" lIns="18288" tIns="9144">
            <a:spAutoFit/>
          </a:bodyPr>
          <a:lstStyle/>
          <a:p>
            <a:pPr>
              <a:spcAft>
                <a:spcPts val="200"/>
              </a:spcAft>
              <a:defRPr sz="2400" b="1">
                <a:solidFill>
                  <a:srgbClr val="F2BD62"/>
                </a:solidFill>
                <a:latin typeface="Aptos"/>
              </a:defRPr>
            </a:pPr>
            <a:r>
              <a:rPr>
                <a:solidFill>
                  <a:srgbClr val="FFFFFF"/>
                </a:solidFill>
              </a:rPr>
              <a:t>→</a:t>
            </a:r>
          </a:p>
        </p:txBody>
      </p:sp>
      <p:sp>
        <p:nvSpPr>
          <p:cNvPr id="31" name="Rounded Rectangle 30"/>
          <p:cNvSpPr/>
          <p:nvPr/>
        </p:nvSpPr>
        <p:spPr>
          <a:xfrm>
            <a:off x="9363456" y="2852928"/>
            <a:ext cx="2679192" cy="25146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363456" y="2852928"/>
            <a:ext cx="64008" cy="25146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64624" y="303580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04</a:t>
            </a:r>
          </a:p>
        </p:txBody>
      </p:sp>
      <p:sp>
        <p:nvSpPr>
          <p:cNvPr id="34" name="TextBox 33"/>
          <p:cNvSpPr txBox="1"/>
          <p:nvPr/>
        </p:nvSpPr>
        <p:spPr>
          <a:xfrm>
            <a:off x="9564624" y="3575304"/>
            <a:ext cx="2295144"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COMMUNICATE</a:t>
            </a:r>
          </a:p>
        </p:txBody>
      </p:sp>
      <p:sp>
        <p:nvSpPr>
          <p:cNvPr id="35" name="TextBox 34"/>
          <p:cNvSpPr txBox="1"/>
          <p:nvPr/>
        </p:nvSpPr>
        <p:spPr>
          <a:xfrm>
            <a:off x="9564624" y="4160520"/>
            <a:ext cx="2286000" cy="11612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Discuss questions and support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PLATFORM DISCOVERY</a:t>
            </a:r>
          </a:p>
        </p:txBody>
      </p:sp>
      <p:sp>
        <p:nvSpPr>
          <p:cNvPr id="9" name="TextBox 8"/>
          <p:cNvSpPr txBox="1"/>
          <p:nvPr/>
        </p:nvSpPr>
        <p:spPr>
          <a:xfrm>
            <a:off x="566928" y="1700784"/>
            <a:ext cx="10972800" cy="532453"/>
          </a:xfrm>
          <a:prstGeom prst="rect">
            <a:avLst/>
          </a:prstGeom>
          <a:noFill/>
        </p:spPr>
        <p:txBody>
          <a:bodyPr wrap="square" lIns="18288" tIns="9144">
            <a:spAutoFit/>
          </a:bodyPr>
          <a:lstStyle/>
          <a:p>
            <a:pPr>
              <a:spcAft>
                <a:spcPts val="200"/>
              </a:spcAft>
              <a:defRPr sz="3100" b="1">
                <a:solidFill>
                  <a:srgbClr val="F7F8FA"/>
                </a:solidFill>
                <a:latin typeface="Aptos"/>
              </a:defRPr>
            </a:pPr>
            <a:r>
              <a:rPr dirty="0" err="1">
                <a:solidFill>
                  <a:srgbClr val="FFFFFF"/>
                </a:solidFill>
              </a:rPr>
              <a:t>Yapla: five areas explored and training</a:t>
            </a:r>
            <a:endParaRPr dirty="0"/>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06  /  20</a:t>
            </a:r>
          </a:p>
        </p:txBody>
      </p:sp>
      <p:sp>
        <p:nvSpPr>
          <p:cNvPr id="13" name="Rounded Rectangle 12"/>
          <p:cNvSpPr/>
          <p:nvPr/>
        </p:nvSpPr>
        <p:spPr>
          <a:xfrm>
            <a:off x="603504" y="2770632"/>
            <a:ext cx="2139696" cy="281635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3504" y="2770632"/>
            <a:ext cx="2139696" cy="7315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3127248"/>
            <a:ext cx="914400" cy="502920"/>
          </a:xfrm>
          <a:prstGeom prst="rect">
            <a:avLst/>
          </a:prstGeom>
          <a:noFill/>
        </p:spPr>
        <p:txBody>
          <a:bodyPr wrap="square" lIns="18288" tIns="9144">
            <a:spAutoFit/>
          </a:bodyPr>
          <a:lstStyle/>
          <a:p>
            <a:pPr>
              <a:spcAft>
                <a:spcPts val="200"/>
              </a:spcAft>
              <a:defRPr sz="2800" b="1">
                <a:solidFill>
                  <a:srgbClr val="F2BD62"/>
                </a:solidFill>
                <a:latin typeface="Aptos"/>
              </a:defRPr>
            </a:pPr>
            <a:r>
              <a:rPr>
                <a:solidFill>
                  <a:srgbClr val="FFFFFF"/>
                </a:solidFill>
              </a:rPr>
              <a:t>01</a:t>
            </a:r>
          </a:p>
        </p:txBody>
      </p:sp>
      <p:sp>
        <p:nvSpPr>
          <p:cNvPr id="16" name="TextBox 15"/>
          <p:cNvSpPr txBox="1"/>
          <p:nvPr/>
        </p:nvSpPr>
        <p:spPr>
          <a:xfrm>
            <a:off x="777240" y="3776472"/>
            <a:ext cx="1920240" cy="384048"/>
          </a:xfrm>
          <a:prstGeom prst="rect">
            <a:avLst/>
          </a:prstGeom>
          <a:noFill/>
        </p:spPr>
        <p:txBody>
          <a:bodyPr wrap="square" lIns="18288" tIns="9144">
            <a:spAutoFit/>
          </a:bodyPr>
          <a:lstStyle/>
          <a:p>
            <a:pPr>
              <a:spcAft>
                <a:spcPts val="200"/>
              </a:spcAft>
              <a:defRPr sz="1500" b="1">
                <a:solidFill>
                  <a:srgbClr val="F7F8FA"/>
                </a:solidFill>
                <a:latin typeface="Aptos"/>
              </a:defRPr>
            </a:pPr>
            <a:r>
              <a:rPr>
                <a:solidFill>
                  <a:srgbClr val="FFFFFF"/>
                </a:solidFill>
              </a:rPr>
              <a:t>MEMBERS</a:t>
            </a:r>
          </a:p>
        </p:txBody>
      </p:sp>
      <p:sp>
        <p:nvSpPr>
          <p:cNvPr id="17" name="TextBox 16"/>
          <p:cNvSpPr txBox="1"/>
          <p:nvPr/>
        </p:nvSpPr>
        <p:spPr>
          <a:xfrm>
            <a:off x="777240" y="4343400"/>
            <a:ext cx="1865376" cy="8229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Records and import questions</a:t>
            </a:r>
          </a:p>
        </p:txBody>
      </p:sp>
      <p:sp>
        <p:nvSpPr>
          <p:cNvPr id="18" name="Rounded Rectangle 17"/>
          <p:cNvSpPr/>
          <p:nvPr/>
        </p:nvSpPr>
        <p:spPr>
          <a:xfrm>
            <a:off x="2935224" y="2770632"/>
            <a:ext cx="2139696" cy="281635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935224" y="2770632"/>
            <a:ext cx="2139696" cy="7315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36392" y="3127248"/>
            <a:ext cx="914400" cy="502920"/>
          </a:xfrm>
          <a:prstGeom prst="rect">
            <a:avLst/>
          </a:prstGeom>
          <a:noFill/>
        </p:spPr>
        <p:txBody>
          <a:bodyPr wrap="square" lIns="18288" tIns="9144">
            <a:spAutoFit/>
          </a:bodyPr>
          <a:lstStyle/>
          <a:p>
            <a:pPr>
              <a:spcAft>
                <a:spcPts val="200"/>
              </a:spcAft>
              <a:defRPr sz="2800" b="1">
                <a:solidFill>
                  <a:srgbClr val="F2BD62"/>
                </a:solidFill>
                <a:latin typeface="Aptos"/>
              </a:defRPr>
            </a:pPr>
            <a:r>
              <a:rPr>
                <a:solidFill>
                  <a:srgbClr val="FFFFFF"/>
                </a:solidFill>
              </a:rPr>
              <a:t>02</a:t>
            </a:r>
          </a:p>
        </p:txBody>
      </p:sp>
      <p:sp>
        <p:nvSpPr>
          <p:cNvPr id="21" name="TextBox 20"/>
          <p:cNvSpPr txBox="1"/>
          <p:nvPr/>
        </p:nvSpPr>
        <p:spPr>
          <a:xfrm>
            <a:off x="3108960" y="3776472"/>
            <a:ext cx="1920240" cy="384048"/>
          </a:xfrm>
          <a:prstGeom prst="rect">
            <a:avLst/>
          </a:prstGeom>
          <a:noFill/>
        </p:spPr>
        <p:txBody>
          <a:bodyPr wrap="square" lIns="18288" tIns="9144">
            <a:spAutoFit/>
          </a:bodyPr>
          <a:lstStyle/>
          <a:p>
            <a:pPr>
              <a:spcAft>
                <a:spcPts val="200"/>
              </a:spcAft>
              <a:defRPr sz="1500" b="1">
                <a:solidFill>
                  <a:srgbClr val="F7F8FA"/>
                </a:solidFill>
                <a:latin typeface="Aptos"/>
              </a:defRPr>
            </a:pPr>
            <a:r>
              <a:rPr>
                <a:solidFill>
                  <a:srgbClr val="FFFFFF"/>
                </a:solidFill>
              </a:rPr>
              <a:t>MEMBERSHIPS</a:t>
            </a:r>
          </a:p>
        </p:txBody>
      </p:sp>
      <p:sp>
        <p:nvSpPr>
          <p:cNvPr id="22" name="TextBox 21"/>
          <p:cNvSpPr txBox="1"/>
          <p:nvPr/>
        </p:nvSpPr>
        <p:spPr>
          <a:xfrm>
            <a:off x="3108960" y="4343400"/>
            <a:ext cx="1865376" cy="822960"/>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Tiers, delegates and renewal</a:t>
            </a:r>
          </a:p>
        </p:txBody>
      </p:sp>
      <p:sp>
        <p:nvSpPr>
          <p:cNvPr id="23" name="Rounded Rectangle 22"/>
          <p:cNvSpPr/>
          <p:nvPr/>
        </p:nvSpPr>
        <p:spPr>
          <a:xfrm>
            <a:off x="5266944" y="2770632"/>
            <a:ext cx="2139696" cy="281635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266944" y="2770632"/>
            <a:ext cx="2139696" cy="7315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68112" y="3127248"/>
            <a:ext cx="914400" cy="502920"/>
          </a:xfrm>
          <a:prstGeom prst="rect">
            <a:avLst/>
          </a:prstGeom>
          <a:noFill/>
        </p:spPr>
        <p:txBody>
          <a:bodyPr wrap="square" lIns="18288" tIns="9144">
            <a:spAutoFit/>
          </a:bodyPr>
          <a:lstStyle/>
          <a:p>
            <a:pPr>
              <a:spcAft>
                <a:spcPts val="200"/>
              </a:spcAft>
              <a:defRPr sz="2800" b="1">
                <a:solidFill>
                  <a:srgbClr val="F2BD62"/>
                </a:solidFill>
                <a:latin typeface="Aptos"/>
              </a:defRPr>
            </a:pPr>
            <a:r>
              <a:rPr>
                <a:solidFill>
                  <a:srgbClr val="FFFFFF"/>
                </a:solidFill>
              </a:rPr>
              <a:t>03</a:t>
            </a:r>
          </a:p>
        </p:txBody>
      </p:sp>
      <p:sp>
        <p:nvSpPr>
          <p:cNvPr id="26" name="TextBox 25"/>
          <p:cNvSpPr txBox="1"/>
          <p:nvPr/>
        </p:nvSpPr>
        <p:spPr>
          <a:xfrm>
            <a:off x="5440680" y="3776472"/>
            <a:ext cx="1920240" cy="384048"/>
          </a:xfrm>
          <a:prstGeom prst="rect">
            <a:avLst/>
          </a:prstGeom>
          <a:noFill/>
        </p:spPr>
        <p:txBody>
          <a:bodyPr wrap="square" lIns="18288" tIns="9144">
            <a:spAutoFit/>
          </a:bodyPr>
          <a:lstStyle/>
          <a:p>
            <a:pPr>
              <a:spcAft>
                <a:spcPts val="200"/>
              </a:spcAft>
              <a:defRPr sz="1500" b="1">
                <a:solidFill>
                  <a:srgbClr val="F7F8FA"/>
                </a:solidFill>
                <a:latin typeface="Aptos"/>
              </a:defRPr>
            </a:pPr>
            <a:r>
              <a:rPr>
                <a:solidFill>
                  <a:srgbClr val="FFFFFF"/>
                </a:solidFill>
              </a:rPr>
              <a:t>PAYMENTS</a:t>
            </a:r>
          </a:p>
        </p:txBody>
      </p:sp>
      <p:sp>
        <p:nvSpPr>
          <p:cNvPr id="27" name="TextBox 26"/>
          <p:cNvSpPr txBox="1"/>
          <p:nvPr/>
        </p:nvSpPr>
        <p:spPr>
          <a:xfrm>
            <a:off x="5440680" y="4343400"/>
            <a:ext cx="1865376" cy="8229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Configuration and fees</a:t>
            </a:r>
          </a:p>
        </p:txBody>
      </p:sp>
      <p:sp>
        <p:nvSpPr>
          <p:cNvPr id="28" name="Rounded Rectangle 27"/>
          <p:cNvSpPr/>
          <p:nvPr/>
        </p:nvSpPr>
        <p:spPr>
          <a:xfrm>
            <a:off x="7598663" y="2770632"/>
            <a:ext cx="2139696" cy="281635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598663" y="2770632"/>
            <a:ext cx="2139696" cy="7315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99831" y="3127248"/>
            <a:ext cx="914400" cy="502920"/>
          </a:xfrm>
          <a:prstGeom prst="rect">
            <a:avLst/>
          </a:prstGeom>
          <a:noFill/>
        </p:spPr>
        <p:txBody>
          <a:bodyPr wrap="square" lIns="18288" tIns="9144">
            <a:spAutoFit/>
          </a:bodyPr>
          <a:lstStyle/>
          <a:p>
            <a:pPr>
              <a:spcAft>
                <a:spcPts val="200"/>
              </a:spcAft>
              <a:defRPr sz="2800" b="1">
                <a:solidFill>
                  <a:srgbClr val="F2BD62"/>
                </a:solidFill>
                <a:latin typeface="Aptos"/>
              </a:defRPr>
            </a:pPr>
            <a:r>
              <a:rPr>
                <a:solidFill>
                  <a:srgbClr val="FFFFFF"/>
                </a:solidFill>
              </a:rPr>
              <a:t>04</a:t>
            </a:r>
          </a:p>
        </p:txBody>
      </p:sp>
      <p:sp>
        <p:nvSpPr>
          <p:cNvPr id="31" name="TextBox 30"/>
          <p:cNvSpPr txBox="1"/>
          <p:nvPr/>
        </p:nvSpPr>
        <p:spPr>
          <a:xfrm>
            <a:off x="7772399" y="3776472"/>
            <a:ext cx="1920240" cy="384048"/>
          </a:xfrm>
          <a:prstGeom prst="rect">
            <a:avLst/>
          </a:prstGeom>
          <a:noFill/>
        </p:spPr>
        <p:txBody>
          <a:bodyPr wrap="square" lIns="18288" tIns="9144">
            <a:spAutoFit/>
          </a:bodyPr>
          <a:lstStyle/>
          <a:p>
            <a:pPr>
              <a:spcAft>
                <a:spcPts val="200"/>
              </a:spcAft>
              <a:defRPr sz="1500" b="1">
                <a:solidFill>
                  <a:srgbClr val="F7F8FA"/>
                </a:solidFill>
                <a:latin typeface="Aptos"/>
              </a:defRPr>
            </a:pPr>
            <a:r>
              <a:rPr>
                <a:solidFill>
                  <a:srgbClr val="FFFFFF"/>
                </a:solidFill>
              </a:rPr>
              <a:t>WEBSITE</a:t>
            </a:r>
          </a:p>
        </p:txBody>
      </p:sp>
      <p:sp>
        <p:nvSpPr>
          <p:cNvPr id="32" name="TextBox 31"/>
          <p:cNvSpPr txBox="1"/>
          <p:nvPr/>
        </p:nvSpPr>
        <p:spPr>
          <a:xfrm>
            <a:off x="7772399" y="4343400"/>
            <a:ext cx="1865376" cy="822960"/>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Structure and content</a:t>
            </a:r>
          </a:p>
        </p:txBody>
      </p:sp>
      <p:sp>
        <p:nvSpPr>
          <p:cNvPr id="33" name="Rounded Rectangle 32"/>
          <p:cNvSpPr/>
          <p:nvPr/>
        </p:nvSpPr>
        <p:spPr>
          <a:xfrm>
            <a:off x="9930384" y="2770632"/>
            <a:ext cx="2139696" cy="281635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930384" y="2770632"/>
            <a:ext cx="2139696" cy="7315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31552" y="3127248"/>
            <a:ext cx="914400" cy="502920"/>
          </a:xfrm>
          <a:prstGeom prst="rect">
            <a:avLst/>
          </a:prstGeom>
          <a:noFill/>
        </p:spPr>
        <p:txBody>
          <a:bodyPr wrap="square" lIns="18288" tIns="9144">
            <a:spAutoFit/>
          </a:bodyPr>
          <a:lstStyle/>
          <a:p>
            <a:pPr>
              <a:spcAft>
                <a:spcPts val="200"/>
              </a:spcAft>
              <a:defRPr sz="2800" b="1">
                <a:solidFill>
                  <a:srgbClr val="F2BD62"/>
                </a:solidFill>
                <a:latin typeface="Aptos"/>
              </a:defRPr>
            </a:pPr>
            <a:r>
              <a:rPr>
                <a:solidFill>
                  <a:srgbClr val="FFFFFF"/>
                </a:solidFill>
              </a:rPr>
              <a:t>05</a:t>
            </a:r>
          </a:p>
        </p:txBody>
      </p:sp>
      <p:sp>
        <p:nvSpPr>
          <p:cNvPr id="36" name="TextBox 35"/>
          <p:cNvSpPr txBox="1"/>
          <p:nvPr/>
        </p:nvSpPr>
        <p:spPr>
          <a:xfrm>
            <a:off x="10104119" y="3776472"/>
            <a:ext cx="1920240" cy="384048"/>
          </a:xfrm>
          <a:prstGeom prst="rect">
            <a:avLst/>
          </a:prstGeom>
          <a:noFill/>
        </p:spPr>
        <p:txBody>
          <a:bodyPr wrap="square" lIns="18288" tIns="9144">
            <a:spAutoFit/>
          </a:bodyPr>
          <a:lstStyle/>
          <a:p>
            <a:pPr>
              <a:spcAft>
                <a:spcPts val="200"/>
              </a:spcAft>
              <a:defRPr sz="1500" b="1">
                <a:solidFill>
                  <a:srgbClr val="F7F8FA"/>
                </a:solidFill>
                <a:latin typeface="Aptos"/>
              </a:defRPr>
            </a:pPr>
            <a:r>
              <a:rPr>
                <a:solidFill>
                  <a:srgbClr val="FFFFFF"/>
                </a:solidFill>
              </a:rPr>
              <a:t>EVENTS</a:t>
            </a:r>
          </a:p>
        </p:txBody>
      </p:sp>
      <p:sp>
        <p:nvSpPr>
          <p:cNvPr id="37" name="TextBox 36"/>
          <p:cNvSpPr txBox="1"/>
          <p:nvPr/>
        </p:nvSpPr>
        <p:spPr>
          <a:xfrm>
            <a:off x="10104119" y="4343400"/>
            <a:ext cx="1865376" cy="8229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Setup and registration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FINDINGS &amp; DECISIONS</a:t>
            </a:r>
          </a:p>
        </p:txBody>
      </p:sp>
      <p:sp>
        <p:nvSpPr>
          <p:cNvPr id="9" name="TextBox 8"/>
          <p:cNvSpPr txBox="1"/>
          <p:nvPr/>
        </p:nvSpPr>
        <p:spPr>
          <a:xfrm>
            <a:off x="566928" y="1700784"/>
            <a:ext cx="10972800" cy="1009507"/>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Yapla findings: preliminary setup review</a:t>
            </a:r>
            <a:endParaRPr dirty="0">
              <a:solidFill>
                <a:srgbClr val="FF0000"/>
              </a:solidFill>
            </a:endParaRP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07  /  20</a:t>
            </a:r>
          </a:p>
        </p:txBody>
      </p:sp>
      <p:sp>
        <p:nvSpPr>
          <p:cNvPr id="13" name="Rounded Rectangle 12"/>
          <p:cNvSpPr/>
          <p:nvPr/>
        </p:nvSpPr>
        <p:spPr>
          <a:xfrm>
            <a:off x="676656" y="2788920"/>
            <a:ext cx="5303520" cy="26974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76656" y="2788920"/>
            <a:ext cx="64008" cy="269748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3008376"/>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What I observed</a:t>
            </a:r>
          </a:p>
        </p:txBody>
      </p:sp>
      <p:sp>
        <p:nvSpPr>
          <p:cNvPr id="16" name="TextBox 15"/>
          <p:cNvSpPr txBox="1"/>
          <p:nvPr/>
        </p:nvSpPr>
        <p:spPr>
          <a:xfrm>
            <a:off x="877824" y="3630168"/>
            <a:ext cx="4910328" cy="175564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During preliminary setup, member records and membership types were not visible in the areas reviewed. Website content was in progress; full event setup was not tested.</a:t>
            </a:r>
          </a:p>
        </p:txBody>
      </p:sp>
      <p:sp>
        <p:nvSpPr>
          <p:cNvPr id="17" name="Rounded Rectangle 16"/>
          <p:cNvSpPr/>
          <p:nvPr/>
        </p:nvSpPr>
        <p:spPr>
          <a:xfrm>
            <a:off x="6199632" y="2788920"/>
            <a:ext cx="5303520" cy="26974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788920"/>
            <a:ext cx="64008" cy="269748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3008376"/>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What needed clarification</a:t>
            </a:r>
          </a:p>
        </p:txBody>
      </p:sp>
      <p:sp>
        <p:nvSpPr>
          <p:cNvPr id="20" name="TextBox 19"/>
          <p:cNvSpPr txBox="1"/>
          <p:nvPr/>
        </p:nvSpPr>
        <p:spPr>
          <a:xfrm>
            <a:off x="6400800" y="3630168"/>
            <a:ext cx="4910328" cy="175564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Member imports, membership rules, payment fees, website readiness, and event registration requirements.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5953"/>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REQUIREMENTS DISCOVERY</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Membership rules require precision</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08  /  20</a:t>
            </a:r>
          </a:p>
        </p:txBody>
      </p:sp>
      <p:sp>
        <p:nvSpPr>
          <p:cNvPr id="13" name="Rounded Rectangle 12"/>
          <p:cNvSpPr/>
          <p:nvPr/>
        </p:nvSpPr>
        <p:spPr>
          <a:xfrm>
            <a:off x="658368" y="2761488"/>
            <a:ext cx="5276088" cy="1408176"/>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761488"/>
            <a:ext cx="64008" cy="140817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980944"/>
            <a:ext cx="4892040"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MEMBER CATEGORIES</a:t>
            </a:r>
          </a:p>
        </p:txBody>
      </p:sp>
      <p:sp>
        <p:nvSpPr>
          <p:cNvPr id="16" name="TextBox 15"/>
          <p:cNvSpPr txBox="1"/>
          <p:nvPr/>
        </p:nvSpPr>
        <p:spPr>
          <a:xfrm>
            <a:off x="859536" y="3602736"/>
            <a:ext cx="4882896" cy="270843"/>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Corporate, Associate, Individual</a:t>
            </a:r>
          </a:p>
        </p:txBody>
      </p:sp>
      <p:sp>
        <p:nvSpPr>
          <p:cNvPr id="17" name="Rounded Rectangle 16"/>
          <p:cNvSpPr/>
          <p:nvPr/>
        </p:nvSpPr>
        <p:spPr>
          <a:xfrm>
            <a:off x="6190488" y="2761488"/>
            <a:ext cx="5276088" cy="1408176"/>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0488" y="2761488"/>
            <a:ext cx="64008" cy="140817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1655" y="2980944"/>
            <a:ext cx="4892040"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RENEWAL LOGIC</a:t>
            </a:r>
          </a:p>
        </p:txBody>
      </p:sp>
      <p:sp>
        <p:nvSpPr>
          <p:cNvPr id="20" name="TextBox 19"/>
          <p:cNvSpPr txBox="1"/>
          <p:nvPr/>
        </p:nvSpPr>
        <p:spPr>
          <a:xfrm>
            <a:off x="6391655" y="3602736"/>
            <a:ext cx="4882896" cy="466344"/>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Fixed membership year and prorating rules</a:t>
            </a:r>
          </a:p>
        </p:txBody>
      </p:sp>
      <p:sp>
        <p:nvSpPr>
          <p:cNvPr id="21" name="Rounded Rectangle 20"/>
          <p:cNvSpPr/>
          <p:nvPr/>
        </p:nvSpPr>
        <p:spPr>
          <a:xfrm>
            <a:off x="3287268" y="4471417"/>
            <a:ext cx="5276088" cy="1408176"/>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87268" y="4471417"/>
            <a:ext cx="64008" cy="140817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88436" y="4690873"/>
            <a:ext cx="4892040"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DIRECTORY EXPERIENCE</a:t>
            </a:r>
          </a:p>
        </p:txBody>
      </p:sp>
      <p:sp>
        <p:nvSpPr>
          <p:cNvPr id="24" name="TextBox 23"/>
          <p:cNvSpPr txBox="1"/>
          <p:nvPr/>
        </p:nvSpPr>
        <p:spPr>
          <a:xfrm>
            <a:off x="3488436" y="5312665"/>
            <a:ext cx="4882896" cy="486287"/>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Search, filters, synonyms, visibility, and a proposed AI-enhanced supplier directory.</a:t>
            </a:r>
            <a:endParaRPr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INDUSTRY RESEARCH</a:t>
            </a:r>
          </a:p>
        </p:txBody>
      </p:sp>
      <p:sp>
        <p:nvSpPr>
          <p:cNvPr id="9" name="TextBox 8"/>
          <p:cNvSpPr txBox="1"/>
          <p:nvPr/>
        </p:nvSpPr>
        <p:spPr>
          <a:xfrm>
            <a:off x="566928" y="1700784"/>
            <a:ext cx="10972800" cy="532453"/>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Preliminary research for an Ontario-wide MSS study</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09  /  20</a:t>
            </a:r>
          </a:p>
        </p:txBody>
      </p:sp>
      <p:sp>
        <p:nvSpPr>
          <p:cNvPr id="13" name="Rounded Rectangle 12"/>
          <p:cNvSpPr/>
          <p:nvPr/>
        </p:nvSpPr>
        <p:spPr>
          <a:xfrm>
            <a:off x="658368" y="2816352"/>
            <a:ext cx="5303520" cy="26517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816352"/>
            <a:ext cx="64008" cy="265176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035808"/>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Research foundation</a:t>
            </a:r>
          </a:p>
        </p:txBody>
      </p:sp>
      <p:sp>
        <p:nvSpPr>
          <p:cNvPr id="16" name="TextBox 15"/>
          <p:cNvSpPr txBox="1"/>
          <p:nvPr/>
        </p:nvSpPr>
        <p:spPr>
          <a:xfrm>
            <a:off x="859536" y="3657600"/>
            <a:ext cx="4910328" cy="170992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Reviewed comparable sector studies and survey methodology to inform the scope of a potential province-wide study.</a:t>
            </a:r>
          </a:p>
        </p:txBody>
      </p:sp>
      <p:sp>
        <p:nvSpPr>
          <p:cNvPr id="17" name="Rounded Rectangle 16"/>
          <p:cNvSpPr/>
          <p:nvPr/>
        </p:nvSpPr>
        <p:spPr>
          <a:xfrm>
            <a:off x="6190488" y="2816352"/>
            <a:ext cx="5303520" cy="265176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0488" y="2816352"/>
            <a:ext cx="64008" cy="265176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1655" y="3035808"/>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Planning outputs</a:t>
            </a:r>
          </a:p>
        </p:txBody>
      </p:sp>
      <p:sp>
        <p:nvSpPr>
          <p:cNvPr id="20" name="TextBox 19"/>
          <p:cNvSpPr txBox="1"/>
          <p:nvPr/>
        </p:nvSpPr>
        <p:spPr>
          <a:xfrm>
            <a:off x="6391655" y="3657600"/>
            <a:ext cx="4910328" cy="170992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Developed preliminary sampling considerations, draft RFP sections, and consultant evaluation criteria.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MSS STUDY DESIGN</a:t>
            </a:r>
          </a:p>
        </p:txBody>
      </p:sp>
      <p:sp>
        <p:nvSpPr>
          <p:cNvPr id="9" name="TextBox 8"/>
          <p:cNvSpPr txBox="1"/>
          <p:nvPr/>
        </p:nvSpPr>
        <p:spPr>
          <a:xfrm>
            <a:off x="566928" y="1700784"/>
            <a:ext cx="10972800" cy="532453"/>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Proposed approach to representative sampling</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10  /  20</a:t>
            </a:r>
          </a:p>
        </p:txBody>
      </p:sp>
      <p:sp>
        <p:nvSpPr>
          <p:cNvPr id="13" name="Rounded Rectangle 12"/>
          <p:cNvSpPr/>
          <p:nvPr/>
        </p:nvSpPr>
        <p:spPr>
          <a:xfrm>
            <a:off x="676656" y="2880360"/>
            <a:ext cx="2660904" cy="22860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3264408"/>
            <a:ext cx="2286000" cy="438912"/>
          </a:xfrm>
          <a:prstGeom prst="rect">
            <a:avLst/>
          </a:prstGeom>
          <a:noFill/>
        </p:spPr>
        <p:txBody>
          <a:bodyPr wrap="square" lIns="18288" tIns="9144">
            <a:spAutoFit/>
          </a:bodyPr>
          <a:lstStyle/>
          <a:p>
            <a:pPr>
              <a:spcAft>
                <a:spcPts val="200"/>
              </a:spcAft>
              <a:defRPr sz="2100" b="1">
                <a:solidFill>
                  <a:srgbClr val="F2BD62"/>
                </a:solidFill>
                <a:latin typeface="Aptos"/>
              </a:defRPr>
            </a:pPr>
            <a:r>
              <a:rPr>
                <a:solidFill>
                  <a:srgbClr val="FFFFFF"/>
                </a:solidFill>
              </a:rPr>
              <a:t>SIZE</a:t>
            </a:r>
          </a:p>
        </p:txBody>
      </p:sp>
      <p:sp>
        <p:nvSpPr>
          <p:cNvPr id="15" name="TextBox 14"/>
          <p:cNvSpPr txBox="1"/>
          <p:nvPr/>
        </p:nvSpPr>
        <p:spPr>
          <a:xfrm>
            <a:off x="850392" y="4069080"/>
            <a:ext cx="2240280" cy="59436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Company size</a:t>
            </a:r>
          </a:p>
        </p:txBody>
      </p:sp>
      <p:sp>
        <p:nvSpPr>
          <p:cNvPr id="16" name="Rounded Rectangle 15"/>
          <p:cNvSpPr/>
          <p:nvPr/>
        </p:nvSpPr>
        <p:spPr>
          <a:xfrm>
            <a:off x="3566160" y="2880360"/>
            <a:ext cx="2660904" cy="22860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39896" y="3264408"/>
            <a:ext cx="2286000" cy="438912"/>
          </a:xfrm>
          <a:prstGeom prst="rect">
            <a:avLst/>
          </a:prstGeom>
          <a:noFill/>
        </p:spPr>
        <p:txBody>
          <a:bodyPr wrap="square" lIns="18288" tIns="9144">
            <a:spAutoFit/>
          </a:bodyPr>
          <a:lstStyle/>
          <a:p>
            <a:pPr>
              <a:spcAft>
                <a:spcPts val="200"/>
              </a:spcAft>
              <a:defRPr sz="2100" b="1">
                <a:solidFill>
                  <a:srgbClr val="F2BD62"/>
                </a:solidFill>
                <a:latin typeface="Aptos"/>
              </a:defRPr>
            </a:pPr>
            <a:r>
              <a:rPr>
                <a:solidFill>
                  <a:srgbClr val="FFFFFF"/>
                </a:solidFill>
              </a:rPr>
              <a:t>SECTOR</a:t>
            </a:r>
          </a:p>
        </p:txBody>
      </p:sp>
      <p:sp>
        <p:nvSpPr>
          <p:cNvPr id="18" name="TextBox 17"/>
          <p:cNvSpPr txBox="1"/>
          <p:nvPr/>
        </p:nvSpPr>
        <p:spPr>
          <a:xfrm>
            <a:off x="3739896" y="4069080"/>
            <a:ext cx="2240280" cy="59436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Industry subsector</a:t>
            </a:r>
          </a:p>
        </p:txBody>
      </p:sp>
      <p:sp>
        <p:nvSpPr>
          <p:cNvPr id="19" name="Rounded Rectangle 18"/>
          <p:cNvSpPr/>
          <p:nvPr/>
        </p:nvSpPr>
        <p:spPr>
          <a:xfrm>
            <a:off x="6455664" y="2880360"/>
            <a:ext cx="2660904" cy="22860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400" y="3264408"/>
            <a:ext cx="2286000" cy="438912"/>
          </a:xfrm>
          <a:prstGeom prst="rect">
            <a:avLst/>
          </a:prstGeom>
          <a:noFill/>
        </p:spPr>
        <p:txBody>
          <a:bodyPr wrap="square" lIns="18288" tIns="9144">
            <a:spAutoFit/>
          </a:bodyPr>
          <a:lstStyle/>
          <a:p>
            <a:pPr>
              <a:spcAft>
                <a:spcPts val="200"/>
              </a:spcAft>
              <a:defRPr sz="2100" b="1">
                <a:solidFill>
                  <a:srgbClr val="F2BD62"/>
                </a:solidFill>
                <a:latin typeface="Aptos"/>
              </a:defRPr>
            </a:pPr>
            <a:r>
              <a:rPr>
                <a:solidFill>
                  <a:srgbClr val="FFFFFF"/>
                </a:solidFill>
              </a:rPr>
              <a:t>REGION</a:t>
            </a:r>
          </a:p>
        </p:txBody>
      </p:sp>
      <p:sp>
        <p:nvSpPr>
          <p:cNvPr id="21" name="TextBox 20"/>
          <p:cNvSpPr txBox="1"/>
          <p:nvPr/>
        </p:nvSpPr>
        <p:spPr>
          <a:xfrm>
            <a:off x="6629400" y="4069080"/>
            <a:ext cx="2240280" cy="59436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Geographic region</a:t>
            </a:r>
          </a:p>
        </p:txBody>
      </p:sp>
      <p:sp>
        <p:nvSpPr>
          <p:cNvPr id="22" name="Rounded Rectangle 21"/>
          <p:cNvSpPr/>
          <p:nvPr/>
        </p:nvSpPr>
        <p:spPr>
          <a:xfrm>
            <a:off x="9345168" y="2880360"/>
            <a:ext cx="2660904" cy="22860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18904" y="3264408"/>
            <a:ext cx="2286000" cy="438912"/>
          </a:xfrm>
          <a:prstGeom prst="rect">
            <a:avLst/>
          </a:prstGeom>
          <a:noFill/>
        </p:spPr>
        <p:txBody>
          <a:bodyPr wrap="square" lIns="18288" tIns="9144">
            <a:spAutoFit/>
          </a:bodyPr>
          <a:lstStyle/>
          <a:p>
            <a:pPr>
              <a:spcAft>
                <a:spcPts val="200"/>
              </a:spcAft>
              <a:defRPr sz="2100" b="1">
                <a:solidFill>
                  <a:srgbClr val="F2BD62"/>
                </a:solidFill>
                <a:latin typeface="Aptos"/>
              </a:defRPr>
            </a:pPr>
            <a:r>
              <a:rPr>
                <a:solidFill>
                  <a:srgbClr val="FFFFFF"/>
                </a:solidFill>
              </a:rPr>
              <a:t>STATUS</a:t>
            </a:r>
          </a:p>
        </p:txBody>
      </p:sp>
      <p:sp>
        <p:nvSpPr>
          <p:cNvPr id="24" name="TextBox 23"/>
          <p:cNvSpPr txBox="1"/>
          <p:nvPr/>
        </p:nvSpPr>
        <p:spPr>
          <a:xfrm>
            <a:off x="9518904" y="4069080"/>
            <a:ext cx="2240280" cy="59436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Membership status</a:t>
            </a:r>
          </a:p>
        </p:txBody>
      </p:sp>
      <p:sp>
        <p:nvSpPr>
          <p:cNvPr id="25" name="TextBox 24"/>
          <p:cNvSpPr txBox="1"/>
          <p:nvPr/>
        </p:nvSpPr>
        <p:spPr>
          <a:xfrm>
            <a:off x="777240" y="5660136"/>
            <a:ext cx="10058400" cy="3657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Proposed sampling dimensions — not collected survey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FORMS &amp; INFORMATION DESIGN</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Digital member-visit questionnaires</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11  /  20</a:t>
            </a:r>
          </a:p>
        </p:txBody>
      </p:sp>
      <p:sp>
        <p:nvSpPr>
          <p:cNvPr id="13" name="Rounded Rectangle 12"/>
          <p:cNvSpPr/>
          <p:nvPr/>
        </p:nvSpPr>
        <p:spPr>
          <a:xfrm>
            <a:off x="676656" y="2770632"/>
            <a:ext cx="5303520" cy="272491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76656" y="2770632"/>
            <a:ext cx="64008" cy="272491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2990087"/>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Questionnaire structure</a:t>
            </a:r>
          </a:p>
        </p:txBody>
      </p:sp>
      <p:sp>
        <p:nvSpPr>
          <p:cNvPr id="16" name="TextBox 15"/>
          <p:cNvSpPr txBox="1"/>
          <p:nvPr/>
        </p:nvSpPr>
        <p:spPr>
          <a:xfrm>
            <a:off x="877824" y="3611879"/>
            <a:ext cx="4910328" cy="178308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Reviewed short and long forms, question types, required fields, branching, and response organization.</a:t>
            </a:r>
          </a:p>
        </p:txBody>
      </p:sp>
      <p:sp>
        <p:nvSpPr>
          <p:cNvPr id="17" name="Rounded Rectangle 16"/>
          <p:cNvSpPr/>
          <p:nvPr/>
        </p:nvSpPr>
        <p:spPr>
          <a:xfrm>
            <a:off x="6199632" y="2770632"/>
            <a:ext cx="5303520" cy="272491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770632"/>
            <a:ext cx="64008" cy="272491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990087"/>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Practical implementation</a:t>
            </a:r>
          </a:p>
        </p:txBody>
      </p:sp>
      <p:sp>
        <p:nvSpPr>
          <p:cNvPr id="20" name="TextBox 19"/>
          <p:cNvSpPr txBox="1"/>
          <p:nvPr/>
        </p:nvSpPr>
        <p:spPr>
          <a:xfrm>
            <a:off x="6400800" y="3611879"/>
            <a:ext cx="4910328" cy="486287"/>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Created Google Form</a:t>
            </a:r>
            <a:r>
              <a:rPr lang="en-US" dirty="0">
                <a:solidFill>
                  <a:srgbClr val="FFFFFF"/>
                </a:solidFill>
              </a:rPr>
              <a:t>s</a:t>
            </a:r>
            <a:r>
              <a:rPr dirty="0">
                <a:solidFill>
                  <a:srgbClr val="FFFFFF"/>
                </a:solidFill>
              </a:rPr>
              <a:t>; platform ownership, privacy, and access controls require organizational confirmation.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NEWSLETTERS, EVENTS &amp; WEBSITE</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Communications kept moving</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12  /  20</a:t>
            </a:r>
          </a:p>
        </p:txBody>
      </p:sp>
      <p:sp>
        <p:nvSpPr>
          <p:cNvPr id="13" name="Rounded Rectangle 12"/>
          <p:cNvSpPr/>
          <p:nvPr/>
        </p:nvSpPr>
        <p:spPr>
          <a:xfrm>
            <a:off x="658368" y="2834640"/>
            <a:ext cx="3621024" cy="26974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834640"/>
            <a:ext cx="64008" cy="269748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017520"/>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01</a:t>
            </a:r>
          </a:p>
        </p:txBody>
      </p:sp>
      <p:sp>
        <p:nvSpPr>
          <p:cNvPr id="16" name="TextBox 15"/>
          <p:cNvSpPr txBox="1"/>
          <p:nvPr/>
        </p:nvSpPr>
        <p:spPr>
          <a:xfrm>
            <a:off x="859536" y="3557016"/>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NEWSLETTERS</a:t>
            </a:r>
          </a:p>
        </p:txBody>
      </p:sp>
      <p:sp>
        <p:nvSpPr>
          <p:cNvPr id="17" name="TextBox 16"/>
          <p:cNvSpPr txBox="1"/>
          <p:nvPr/>
        </p:nvSpPr>
        <p:spPr>
          <a:xfrm>
            <a:off x="859536" y="4142232"/>
            <a:ext cx="3227832" cy="1344168"/>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Preparing and updating </a:t>
            </a:r>
            <a:r>
              <a:rPr dirty="0" err="1">
                <a:solidFill>
                  <a:srgbClr val="FFFFFF"/>
                </a:solidFill>
              </a:rPr>
              <a:t>eNews</a:t>
            </a:r>
            <a:r>
              <a:rPr dirty="0">
                <a:solidFill>
                  <a:srgbClr val="FFFFFF"/>
                </a:solidFill>
              </a:rPr>
              <a:t> content</a:t>
            </a:r>
          </a:p>
        </p:txBody>
      </p:sp>
      <p:sp>
        <p:nvSpPr>
          <p:cNvPr id="18" name="Rounded Rectangle 17"/>
          <p:cNvSpPr/>
          <p:nvPr/>
        </p:nvSpPr>
        <p:spPr>
          <a:xfrm>
            <a:off x="4526280" y="2834640"/>
            <a:ext cx="3621024" cy="26974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26280" y="2834640"/>
            <a:ext cx="64008" cy="269748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27448" y="3017520"/>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02</a:t>
            </a:r>
          </a:p>
        </p:txBody>
      </p:sp>
      <p:sp>
        <p:nvSpPr>
          <p:cNvPr id="21" name="TextBox 20"/>
          <p:cNvSpPr txBox="1"/>
          <p:nvPr/>
        </p:nvSpPr>
        <p:spPr>
          <a:xfrm>
            <a:off x="4727448" y="3557016"/>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EVENTS</a:t>
            </a:r>
          </a:p>
        </p:txBody>
      </p:sp>
      <p:sp>
        <p:nvSpPr>
          <p:cNvPr id="22" name="TextBox 21"/>
          <p:cNvSpPr txBox="1"/>
          <p:nvPr/>
        </p:nvSpPr>
        <p:spPr>
          <a:xfrm>
            <a:off x="4727448" y="4142232"/>
            <a:ext cx="3227832" cy="486287"/>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Posting and updating events on MineConnect's online Events Calendar</a:t>
            </a:r>
            <a:endParaRPr dirty="0">
              <a:solidFill>
                <a:srgbClr val="FF0000"/>
              </a:solidFill>
            </a:endParaRPr>
          </a:p>
        </p:txBody>
      </p:sp>
      <p:sp>
        <p:nvSpPr>
          <p:cNvPr id="23" name="Rounded Rectangle 22"/>
          <p:cNvSpPr/>
          <p:nvPr/>
        </p:nvSpPr>
        <p:spPr>
          <a:xfrm>
            <a:off x="8394192" y="2834640"/>
            <a:ext cx="3621024" cy="269748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394192" y="2834640"/>
            <a:ext cx="64008" cy="269748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95360" y="3017520"/>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03</a:t>
            </a:r>
          </a:p>
        </p:txBody>
      </p:sp>
      <p:sp>
        <p:nvSpPr>
          <p:cNvPr id="26" name="TextBox 25"/>
          <p:cNvSpPr txBox="1"/>
          <p:nvPr/>
        </p:nvSpPr>
        <p:spPr>
          <a:xfrm>
            <a:off x="8595360" y="3557016"/>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WEBSITE</a:t>
            </a:r>
          </a:p>
        </p:txBody>
      </p:sp>
      <p:sp>
        <p:nvSpPr>
          <p:cNvPr id="27" name="TextBox 26"/>
          <p:cNvSpPr txBox="1"/>
          <p:nvPr/>
        </p:nvSpPr>
        <p:spPr>
          <a:xfrm>
            <a:off x="8595360" y="4142232"/>
            <a:ext cx="3227832" cy="134416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Content-related support and link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COLLABORATION IN PRACTICE</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Creative and office contributions</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13  /  20</a:t>
            </a:r>
          </a:p>
        </p:txBody>
      </p:sp>
      <p:sp>
        <p:nvSpPr>
          <p:cNvPr id="13" name="Rounded Rectangle 12"/>
          <p:cNvSpPr/>
          <p:nvPr/>
        </p:nvSpPr>
        <p:spPr>
          <a:xfrm>
            <a:off x="667512" y="2770632"/>
            <a:ext cx="5303520" cy="267919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 y="2770632"/>
            <a:ext cx="64008" cy="267919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990087"/>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Event promotion</a:t>
            </a:r>
          </a:p>
        </p:txBody>
      </p:sp>
      <p:sp>
        <p:nvSpPr>
          <p:cNvPr id="16" name="TextBox 15"/>
          <p:cNvSpPr txBox="1"/>
          <p:nvPr/>
        </p:nvSpPr>
        <p:spPr>
          <a:xfrm>
            <a:off x="868680" y="3611879"/>
            <a:ext cx="4910328" cy="17373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Prepared an initial Canva banner concept for a MineOpportunity-related event and partner-logo layout.</a:t>
            </a:r>
          </a:p>
        </p:txBody>
      </p:sp>
      <p:sp>
        <p:nvSpPr>
          <p:cNvPr id="17" name="Rounded Rectangle 16"/>
          <p:cNvSpPr/>
          <p:nvPr/>
        </p:nvSpPr>
        <p:spPr>
          <a:xfrm>
            <a:off x="6199632" y="2770632"/>
            <a:ext cx="5303520" cy="2679192"/>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770632"/>
            <a:ext cx="64008" cy="2679192"/>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990087"/>
            <a:ext cx="4919472"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Team coordination</a:t>
            </a:r>
          </a:p>
        </p:txBody>
      </p:sp>
      <p:sp>
        <p:nvSpPr>
          <p:cNvPr id="20" name="TextBox 19"/>
          <p:cNvSpPr txBox="1"/>
          <p:nvPr/>
        </p:nvSpPr>
        <p:spPr>
          <a:xfrm>
            <a:off x="6400800" y="3611879"/>
            <a:ext cx="4910328" cy="1737360"/>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Joined meetings, prepared progress updates, clarified requirements, and supported routine office activities.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SELECTED DELIVERABLES</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Work products I prepared</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14  /  20</a:t>
            </a:r>
          </a:p>
        </p:txBody>
      </p:sp>
      <p:sp>
        <p:nvSpPr>
          <p:cNvPr id="13" name="Rounded Rectangle 12"/>
          <p:cNvSpPr/>
          <p:nvPr/>
        </p:nvSpPr>
        <p:spPr>
          <a:xfrm>
            <a:off x="658368" y="2761488"/>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3" y="2916936"/>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15" name="TextBox 14"/>
          <p:cNvSpPr txBox="1"/>
          <p:nvPr/>
        </p:nvSpPr>
        <p:spPr>
          <a:xfrm>
            <a:off x="1389888" y="2962656"/>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Yapla exploration and findings summary</a:t>
            </a:r>
          </a:p>
        </p:txBody>
      </p:sp>
      <p:sp>
        <p:nvSpPr>
          <p:cNvPr id="16" name="Rounded Rectangle 15"/>
          <p:cNvSpPr/>
          <p:nvPr/>
        </p:nvSpPr>
        <p:spPr>
          <a:xfrm>
            <a:off x="6199631" y="2761488"/>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3368" y="2916936"/>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18" name="TextBox 17"/>
          <p:cNvSpPr txBox="1"/>
          <p:nvPr/>
        </p:nvSpPr>
        <p:spPr>
          <a:xfrm>
            <a:off x="6931151" y="2962656"/>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Membership discovery review</a:t>
            </a:r>
          </a:p>
        </p:txBody>
      </p:sp>
      <p:sp>
        <p:nvSpPr>
          <p:cNvPr id="19" name="Rounded Rectangle 18"/>
          <p:cNvSpPr/>
          <p:nvPr/>
        </p:nvSpPr>
        <p:spPr>
          <a:xfrm>
            <a:off x="658368" y="3785616"/>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3" y="3941064"/>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21" name="TextBox 20"/>
          <p:cNvSpPr txBox="1"/>
          <p:nvPr/>
        </p:nvSpPr>
        <p:spPr>
          <a:xfrm>
            <a:off x="1389888" y="3986784"/>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Placement progress updates</a:t>
            </a:r>
          </a:p>
        </p:txBody>
      </p:sp>
      <p:sp>
        <p:nvSpPr>
          <p:cNvPr id="22" name="Rounded Rectangle 21"/>
          <p:cNvSpPr/>
          <p:nvPr/>
        </p:nvSpPr>
        <p:spPr>
          <a:xfrm>
            <a:off x="6199631" y="3785616"/>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73368" y="3941064"/>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24" name="TextBox 23"/>
          <p:cNvSpPr txBox="1"/>
          <p:nvPr/>
        </p:nvSpPr>
        <p:spPr>
          <a:xfrm>
            <a:off x="6931151" y="3986784"/>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MSS study planning notes</a:t>
            </a:r>
          </a:p>
        </p:txBody>
      </p:sp>
      <p:sp>
        <p:nvSpPr>
          <p:cNvPr id="25" name="Rounded Rectangle 24"/>
          <p:cNvSpPr/>
          <p:nvPr/>
        </p:nvSpPr>
        <p:spPr>
          <a:xfrm>
            <a:off x="658368" y="4809744"/>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3" y="4965192"/>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27" name="TextBox 26"/>
          <p:cNvSpPr txBox="1"/>
          <p:nvPr/>
        </p:nvSpPr>
        <p:spPr>
          <a:xfrm>
            <a:off x="1389888" y="5010912"/>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Member questionnaire and form work</a:t>
            </a:r>
          </a:p>
        </p:txBody>
      </p:sp>
      <p:sp>
        <p:nvSpPr>
          <p:cNvPr id="28" name="Rounded Rectangle 27"/>
          <p:cNvSpPr/>
          <p:nvPr/>
        </p:nvSpPr>
        <p:spPr>
          <a:xfrm>
            <a:off x="6199631" y="4809744"/>
            <a:ext cx="5303520" cy="832104"/>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73368" y="4965192"/>
            <a:ext cx="457200" cy="457200"/>
          </a:xfrm>
          <a:prstGeom prst="rect">
            <a:avLst/>
          </a:prstGeom>
          <a:noFill/>
        </p:spPr>
        <p:txBody>
          <a:bodyPr wrap="square" lIns="18288" tIns="9144">
            <a:spAutoFit/>
          </a:bodyPr>
          <a:lstStyle/>
          <a:p>
            <a:pPr>
              <a:spcAft>
                <a:spcPts val="200"/>
              </a:spcAft>
              <a:defRPr sz="2200" b="1">
                <a:solidFill>
                  <a:srgbClr val="F2BD62"/>
                </a:solidFill>
                <a:latin typeface="Aptos"/>
              </a:defRPr>
            </a:pPr>
            <a:r>
              <a:rPr>
                <a:solidFill>
                  <a:srgbClr val="FFFFFF"/>
                </a:solidFill>
              </a:rPr>
              <a:t>✓</a:t>
            </a:r>
          </a:p>
        </p:txBody>
      </p:sp>
      <p:sp>
        <p:nvSpPr>
          <p:cNvPr id="30" name="TextBox 29"/>
          <p:cNvSpPr txBox="1"/>
          <p:nvPr/>
        </p:nvSpPr>
        <p:spPr>
          <a:xfrm>
            <a:off x="6931151" y="5010912"/>
            <a:ext cx="4389120" cy="457200"/>
          </a:xfrm>
          <a:prstGeom prst="rect">
            <a:avLst/>
          </a:prstGeom>
          <a:noFill/>
        </p:spPr>
        <p:txBody>
          <a:bodyPr wrap="square" lIns="18288" tIns="9144">
            <a:spAutoFit/>
          </a:bodyPr>
          <a:lstStyle/>
          <a:p>
            <a:pPr>
              <a:spcAft>
                <a:spcPts val="200"/>
              </a:spcAft>
              <a:defRPr sz="1600" b="0">
                <a:solidFill>
                  <a:srgbClr val="F7F8FA"/>
                </a:solidFill>
                <a:latin typeface="Aptos"/>
              </a:defRPr>
            </a:pPr>
            <a:r>
              <a:rPr>
                <a:solidFill>
                  <a:srgbClr val="FFFFFF"/>
                </a:solidFill>
              </a:rPr>
              <a:t>Newsletter and event support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PROBLEM-SOLVING</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Challenges turned into learning</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15  /  20</a:t>
            </a:r>
          </a:p>
        </p:txBody>
      </p:sp>
      <p:sp>
        <p:nvSpPr>
          <p:cNvPr id="13" name="Rounded Rectangle 12"/>
          <p:cNvSpPr/>
          <p:nvPr/>
        </p:nvSpPr>
        <p:spPr>
          <a:xfrm>
            <a:off x="658368" y="2779776"/>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779776"/>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962656"/>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01</a:t>
            </a:r>
          </a:p>
        </p:txBody>
      </p:sp>
      <p:sp>
        <p:nvSpPr>
          <p:cNvPr id="16" name="TextBox 15"/>
          <p:cNvSpPr txBox="1"/>
          <p:nvPr/>
        </p:nvSpPr>
        <p:spPr>
          <a:xfrm>
            <a:off x="859536" y="3502152"/>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New platform</a:t>
            </a:r>
          </a:p>
        </p:txBody>
      </p:sp>
      <p:sp>
        <p:nvSpPr>
          <p:cNvPr id="17" name="TextBox 16"/>
          <p:cNvSpPr txBox="1"/>
          <p:nvPr/>
        </p:nvSpPr>
        <p:spPr>
          <a:xfrm>
            <a:off x="859536" y="4087368"/>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Used self-directed training and structured exploration</a:t>
            </a:r>
          </a:p>
        </p:txBody>
      </p:sp>
      <p:sp>
        <p:nvSpPr>
          <p:cNvPr id="18" name="Rounded Rectangle 17"/>
          <p:cNvSpPr/>
          <p:nvPr/>
        </p:nvSpPr>
        <p:spPr>
          <a:xfrm>
            <a:off x="4526280" y="2779776"/>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26280" y="2779776"/>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27448" y="2962656"/>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02</a:t>
            </a:r>
          </a:p>
        </p:txBody>
      </p:sp>
      <p:sp>
        <p:nvSpPr>
          <p:cNvPr id="21" name="TextBox 20"/>
          <p:cNvSpPr txBox="1"/>
          <p:nvPr/>
        </p:nvSpPr>
        <p:spPr>
          <a:xfrm>
            <a:off x="4727448" y="3502152"/>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Unclear requirements</a:t>
            </a:r>
          </a:p>
        </p:txBody>
      </p:sp>
      <p:sp>
        <p:nvSpPr>
          <p:cNvPr id="22" name="TextBox 21"/>
          <p:cNvSpPr txBox="1"/>
          <p:nvPr/>
        </p:nvSpPr>
        <p:spPr>
          <a:xfrm>
            <a:off x="4727448" y="4087368"/>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Documented open questions instead of guessing</a:t>
            </a:r>
          </a:p>
        </p:txBody>
      </p:sp>
      <p:sp>
        <p:nvSpPr>
          <p:cNvPr id="23" name="Rounded Rectangle 22"/>
          <p:cNvSpPr/>
          <p:nvPr/>
        </p:nvSpPr>
        <p:spPr>
          <a:xfrm>
            <a:off x="8394192" y="2779776"/>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394192" y="2779776"/>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95360" y="2962656"/>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03</a:t>
            </a:r>
          </a:p>
        </p:txBody>
      </p:sp>
      <p:sp>
        <p:nvSpPr>
          <p:cNvPr id="26" name="TextBox 25"/>
          <p:cNvSpPr txBox="1"/>
          <p:nvPr/>
        </p:nvSpPr>
        <p:spPr>
          <a:xfrm>
            <a:off x="8595360" y="3502152"/>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Multiple priorities</a:t>
            </a:r>
          </a:p>
        </p:txBody>
      </p:sp>
      <p:sp>
        <p:nvSpPr>
          <p:cNvPr id="27" name="TextBox 26"/>
          <p:cNvSpPr txBox="1"/>
          <p:nvPr/>
        </p:nvSpPr>
        <p:spPr>
          <a:xfrm>
            <a:off x="8595360" y="4087368"/>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Balanced research, event tasks and updates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919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LEARNING OUTCOMES</a:t>
            </a:r>
          </a:p>
        </p:txBody>
      </p:sp>
      <p:sp>
        <p:nvSpPr>
          <p:cNvPr id="9" name="TextBox 8"/>
          <p:cNvSpPr txBox="1"/>
          <p:nvPr/>
        </p:nvSpPr>
        <p:spPr>
          <a:xfrm>
            <a:off x="566928" y="1700784"/>
            <a:ext cx="10972800" cy="532453"/>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Business analysis skills applied at MineConnect</a:t>
            </a:r>
            <a:endParaRPr dirty="0">
              <a:solidFill>
                <a:srgbClr val="FF0000"/>
              </a:solidFill>
            </a:endParaRP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16  /  20</a:t>
            </a:r>
          </a:p>
        </p:txBody>
      </p:sp>
      <p:sp>
        <p:nvSpPr>
          <p:cNvPr id="13" name="Rounded Rectangle 12"/>
          <p:cNvSpPr/>
          <p:nvPr/>
        </p:nvSpPr>
        <p:spPr>
          <a:xfrm>
            <a:off x="658368" y="2779776"/>
            <a:ext cx="5294376" cy="1435608"/>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779776"/>
            <a:ext cx="64008" cy="14356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999232"/>
            <a:ext cx="4910328"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REQUIREMENTS</a:t>
            </a:r>
          </a:p>
        </p:txBody>
      </p:sp>
      <p:sp>
        <p:nvSpPr>
          <p:cNvPr id="16" name="TextBox 15"/>
          <p:cNvSpPr txBox="1"/>
          <p:nvPr/>
        </p:nvSpPr>
        <p:spPr>
          <a:xfrm>
            <a:off x="859536" y="3621024"/>
            <a:ext cx="4901184" cy="493776"/>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Reviewed membership rules and documented open questions</a:t>
            </a:r>
          </a:p>
        </p:txBody>
      </p:sp>
      <p:sp>
        <p:nvSpPr>
          <p:cNvPr id="17" name="Rounded Rectangle 16"/>
          <p:cNvSpPr/>
          <p:nvPr/>
        </p:nvSpPr>
        <p:spPr>
          <a:xfrm>
            <a:off x="6190488" y="2779776"/>
            <a:ext cx="5294376" cy="1435608"/>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0488" y="2779776"/>
            <a:ext cx="64008" cy="14356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1655" y="2999232"/>
            <a:ext cx="4910328"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PROCESSES</a:t>
            </a:r>
          </a:p>
        </p:txBody>
      </p:sp>
      <p:sp>
        <p:nvSpPr>
          <p:cNvPr id="20" name="TextBox 19"/>
          <p:cNvSpPr txBox="1"/>
          <p:nvPr/>
        </p:nvSpPr>
        <p:spPr>
          <a:xfrm>
            <a:off x="6391655" y="3621024"/>
            <a:ext cx="4901184" cy="493776"/>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Explored membership, renewal and questionnaire workflows</a:t>
            </a:r>
          </a:p>
        </p:txBody>
      </p:sp>
      <p:sp>
        <p:nvSpPr>
          <p:cNvPr id="21" name="Rounded Rectangle 20"/>
          <p:cNvSpPr/>
          <p:nvPr/>
        </p:nvSpPr>
        <p:spPr>
          <a:xfrm>
            <a:off x="658368" y="4398264"/>
            <a:ext cx="5294376" cy="1435608"/>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58368" y="4398264"/>
            <a:ext cx="64008" cy="14356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4617720"/>
            <a:ext cx="4910328"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STAKEHOLDERS</a:t>
            </a:r>
          </a:p>
        </p:txBody>
      </p:sp>
      <p:sp>
        <p:nvSpPr>
          <p:cNvPr id="24" name="TextBox 23"/>
          <p:cNvSpPr txBox="1"/>
          <p:nvPr/>
        </p:nvSpPr>
        <p:spPr>
          <a:xfrm>
            <a:off x="859536" y="5239512"/>
            <a:ext cx="4901184" cy="493776"/>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Shared findings, asked questions and joined meetings</a:t>
            </a:r>
          </a:p>
        </p:txBody>
      </p:sp>
      <p:sp>
        <p:nvSpPr>
          <p:cNvPr id="25" name="Rounded Rectangle 24"/>
          <p:cNvSpPr/>
          <p:nvPr/>
        </p:nvSpPr>
        <p:spPr>
          <a:xfrm>
            <a:off x="6190488" y="4398264"/>
            <a:ext cx="5294376" cy="1435608"/>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90488" y="4398264"/>
            <a:ext cx="64008" cy="14356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91655" y="4617720"/>
            <a:ext cx="4910328"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PROFESSIONALISM</a:t>
            </a:r>
          </a:p>
        </p:txBody>
      </p:sp>
      <p:sp>
        <p:nvSpPr>
          <p:cNvPr id="28" name="TextBox 27"/>
          <p:cNvSpPr txBox="1"/>
          <p:nvPr/>
        </p:nvSpPr>
        <p:spPr>
          <a:xfrm>
            <a:off x="6391655" y="5239512"/>
            <a:ext cx="4901184" cy="493776"/>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Learned Yapla independently and managed changing tasks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OUTCOMES &amp; HANDOVER</a:t>
            </a:r>
          </a:p>
        </p:txBody>
      </p:sp>
      <p:sp>
        <p:nvSpPr>
          <p:cNvPr id="9" name="TextBox 8"/>
          <p:cNvSpPr txBox="1"/>
          <p:nvPr/>
        </p:nvSpPr>
        <p:spPr>
          <a:xfrm>
            <a:off x="566928" y="1700784"/>
            <a:ext cx="10972800" cy="532453"/>
          </a:xfrm>
          <a:prstGeom prst="rect">
            <a:avLst/>
          </a:prstGeom>
          <a:noFill/>
        </p:spPr>
        <p:txBody>
          <a:bodyPr wrap="square" lIns="18288" tIns="9144">
            <a:spAutoFit/>
          </a:bodyPr>
          <a:lstStyle/>
          <a:p>
            <a:pPr>
              <a:spcAft>
                <a:spcPts val="200"/>
              </a:spcAft>
              <a:defRPr sz="3100" b="1">
                <a:solidFill>
                  <a:srgbClr val="F7F8FA"/>
                </a:solidFill>
                <a:latin typeface="Aptos"/>
              </a:defRPr>
            </a:pPr>
            <a:r>
              <a:rPr dirty="0">
                <a:solidFill>
                  <a:srgbClr val="FFFFFF"/>
                </a:solidFill>
              </a:rPr>
              <a:t>My contributions and recommended next steps</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17  /  20</a:t>
            </a:r>
          </a:p>
        </p:txBody>
      </p:sp>
      <p:sp>
        <p:nvSpPr>
          <p:cNvPr id="13" name="Rounded Rectangle 12"/>
          <p:cNvSpPr/>
          <p:nvPr/>
        </p:nvSpPr>
        <p:spPr>
          <a:xfrm>
            <a:off x="667512" y="2761488"/>
            <a:ext cx="531266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 y="2761488"/>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980944"/>
            <a:ext cx="492861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My contributions</a:t>
            </a:r>
          </a:p>
        </p:txBody>
      </p:sp>
      <p:sp>
        <p:nvSpPr>
          <p:cNvPr id="16" name="TextBox 15"/>
          <p:cNvSpPr txBox="1"/>
          <p:nvPr/>
        </p:nvSpPr>
        <p:spPr>
          <a:xfrm>
            <a:off x="868680" y="3602736"/>
            <a:ext cx="4919472" cy="1801368"/>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Structured discovery findings, documented requirements, initial research planning, and ongoing digital communications support.</a:t>
            </a:r>
          </a:p>
        </p:txBody>
      </p:sp>
      <p:sp>
        <p:nvSpPr>
          <p:cNvPr id="17" name="Rounded Rectangle 16"/>
          <p:cNvSpPr/>
          <p:nvPr/>
        </p:nvSpPr>
        <p:spPr>
          <a:xfrm>
            <a:off x="6199632" y="2761488"/>
            <a:ext cx="531266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761488"/>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980944"/>
            <a:ext cx="492861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Next-stage priorities</a:t>
            </a:r>
          </a:p>
        </p:txBody>
      </p:sp>
      <p:sp>
        <p:nvSpPr>
          <p:cNvPr id="20" name="TextBox 19"/>
          <p:cNvSpPr txBox="1"/>
          <p:nvPr/>
        </p:nvSpPr>
        <p:spPr>
          <a:xfrm>
            <a:off x="6400800" y="3602736"/>
            <a:ext cx="4919472" cy="1801368"/>
          </a:xfrm>
          <a:prstGeom prst="rect">
            <a:avLst/>
          </a:prstGeom>
          <a:noFill/>
        </p:spPr>
        <p:txBody>
          <a:bodyPr wrap="square" lIns="18288" tIns="9144">
            <a:spAutoFit/>
          </a:bodyPr>
          <a:lstStyle/>
          <a:p>
            <a:pPr>
              <a:spcAft>
                <a:spcPts val="200"/>
              </a:spcAft>
              <a:defRPr sz="1400" b="0">
                <a:solidFill>
                  <a:srgbClr val="B4C5D5"/>
                </a:solidFill>
                <a:latin typeface="Aptos"/>
              </a:defRPr>
            </a:pPr>
            <a:r>
              <a:rPr dirty="0">
                <a:solidFill>
                  <a:srgbClr val="FFFFFF"/>
                </a:solidFill>
              </a:rPr>
              <a:t>Confirm migration method, validate business rules, finalize platform decisions, and test configured workflows.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ACADEMIC &amp; PLACEMENT EVIDENCE</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Professional portfolio</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18  /  20</a:t>
            </a:r>
          </a:p>
        </p:txBody>
      </p:sp>
      <p:sp>
        <p:nvSpPr>
          <p:cNvPr id="13" name="Rounded Rectangle 12"/>
          <p:cNvSpPr/>
          <p:nvPr/>
        </p:nvSpPr>
        <p:spPr>
          <a:xfrm>
            <a:off x="667512" y="2871216"/>
            <a:ext cx="10844784" cy="1316736"/>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 y="3300984"/>
            <a:ext cx="10195560" cy="393954"/>
          </a:xfrm>
          <a:prstGeom prst="rect">
            <a:avLst/>
          </a:prstGeom>
          <a:noFill/>
        </p:spPr>
        <p:txBody>
          <a:bodyPr wrap="square" lIns="18288" tIns="9144">
            <a:spAutoFit/>
          </a:bodyPr>
          <a:lstStyle/>
          <a:p>
            <a:pPr>
              <a:spcAft>
                <a:spcPts val="200"/>
              </a:spcAft>
              <a:defRPr sz="2200" b="1">
                <a:solidFill>
                  <a:srgbClr val="F2BD62"/>
                </a:solidFill>
                <a:latin typeface="Aptos"/>
              </a:defRPr>
            </a:pPr>
            <a:r>
              <a:rPr lang="en-CA" dirty="0">
                <a:solidFill>
                  <a:schemeClr val="bg1"/>
                </a:solidFill>
                <a:hlinkClick r:id="rId5">
                  <a:extLst>
                    <a:ext uri="{A12FA001-AC4F-418D-AE19-62706E023703}">
                      <ahyp:hlinkClr xmlns:ahyp="http://schemas.microsoft.com/office/drawing/2018/hyperlinkcolor" val="tx"/>
                    </a:ext>
                  </a:extLst>
                </a:hlinkClick>
              </a:rPr>
              <a:t>[https://haris-mineconnect.vercel.app]</a:t>
            </a:r>
            <a:endParaRPr dirty="0">
              <a:solidFill>
                <a:schemeClr val="bg1"/>
              </a:solidFill>
            </a:endParaRPr>
          </a:p>
        </p:txBody>
      </p:sp>
      <p:sp>
        <p:nvSpPr>
          <p:cNvPr id="15" name="TextBox 14"/>
          <p:cNvSpPr txBox="1"/>
          <p:nvPr/>
        </p:nvSpPr>
        <p:spPr>
          <a:xfrm>
            <a:off x="822960" y="4754880"/>
            <a:ext cx="10698480" cy="868680"/>
          </a:xfrm>
          <a:prstGeom prst="rect">
            <a:avLst/>
          </a:prstGeom>
          <a:noFill/>
        </p:spPr>
        <p:txBody>
          <a:bodyPr wrap="square" lIns="18288" tIns="9144">
            <a:spAutoFit/>
          </a:bodyPr>
          <a:lstStyle/>
          <a:p>
            <a:pPr>
              <a:spcAft>
                <a:spcPts val="200"/>
              </a:spcAft>
              <a:defRPr sz="1700" b="0">
                <a:solidFill>
                  <a:srgbClr val="B4C5D5"/>
                </a:solidFill>
                <a:latin typeface="Aptos"/>
              </a:defRPr>
            </a:pPr>
            <a:r>
              <a:rPr>
                <a:solidFill>
                  <a:srgbClr val="FFFFFF"/>
                </a:solidFill>
              </a:rPr>
              <a:t>Show one academic project and a permitted placement artifact. Obtain MineConnect approval before sharing internal materials.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REFLECTION</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What I will take forward</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19  /  20</a:t>
            </a:r>
          </a:p>
        </p:txBody>
      </p:sp>
      <p:sp>
        <p:nvSpPr>
          <p:cNvPr id="13" name="Rounded Rectangle 12"/>
          <p:cNvSpPr/>
          <p:nvPr/>
        </p:nvSpPr>
        <p:spPr>
          <a:xfrm>
            <a:off x="658368" y="2807208"/>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2807208"/>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99008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01</a:t>
            </a:r>
          </a:p>
        </p:txBody>
      </p:sp>
      <p:sp>
        <p:nvSpPr>
          <p:cNvPr id="16" name="TextBox 15"/>
          <p:cNvSpPr txBox="1"/>
          <p:nvPr/>
        </p:nvSpPr>
        <p:spPr>
          <a:xfrm>
            <a:off x="859536" y="3529584"/>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ASK BETTER QUESTIONS</a:t>
            </a:r>
          </a:p>
        </p:txBody>
      </p:sp>
      <p:sp>
        <p:nvSpPr>
          <p:cNvPr id="17" name="TextBox 16"/>
          <p:cNvSpPr txBox="1"/>
          <p:nvPr/>
        </p:nvSpPr>
        <p:spPr>
          <a:xfrm>
            <a:off x="859536" y="4114800"/>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Distinguish assumptions from confirmed requirements</a:t>
            </a:r>
          </a:p>
        </p:txBody>
      </p:sp>
      <p:sp>
        <p:nvSpPr>
          <p:cNvPr id="18" name="Rounded Rectangle 17"/>
          <p:cNvSpPr/>
          <p:nvPr/>
        </p:nvSpPr>
        <p:spPr>
          <a:xfrm>
            <a:off x="4526280" y="2807208"/>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26280" y="2807208"/>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27448" y="299008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02</a:t>
            </a:r>
          </a:p>
        </p:txBody>
      </p:sp>
      <p:sp>
        <p:nvSpPr>
          <p:cNvPr id="21" name="TextBox 20"/>
          <p:cNvSpPr txBox="1"/>
          <p:nvPr/>
        </p:nvSpPr>
        <p:spPr>
          <a:xfrm>
            <a:off x="4727448" y="3529584"/>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DOCUMENT CLEARLY</a:t>
            </a:r>
          </a:p>
        </p:txBody>
      </p:sp>
      <p:sp>
        <p:nvSpPr>
          <p:cNvPr id="22" name="TextBox 21"/>
          <p:cNvSpPr txBox="1"/>
          <p:nvPr/>
        </p:nvSpPr>
        <p:spPr>
          <a:xfrm>
            <a:off x="4727448" y="4114800"/>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Create materials colleagues can act on</a:t>
            </a:r>
          </a:p>
        </p:txBody>
      </p:sp>
      <p:sp>
        <p:nvSpPr>
          <p:cNvPr id="23" name="Rounded Rectangle 22"/>
          <p:cNvSpPr/>
          <p:nvPr/>
        </p:nvSpPr>
        <p:spPr>
          <a:xfrm>
            <a:off x="8394192" y="2807208"/>
            <a:ext cx="3621024" cy="2743200"/>
          </a:xfrm>
          <a:prstGeom prst="roundRect">
            <a:avLst>
              <a:gd name="adj" fmla="val 12000"/>
            </a:avLst>
          </a:prstGeom>
          <a:solidFill>
            <a:srgbClr val="102D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394192" y="2807208"/>
            <a:ext cx="64008" cy="2743200"/>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95360" y="2990088"/>
            <a:ext cx="566928" cy="420624"/>
          </a:xfrm>
          <a:prstGeom prst="rect">
            <a:avLst/>
          </a:prstGeom>
          <a:noFill/>
        </p:spPr>
        <p:txBody>
          <a:bodyPr wrap="square" lIns="18288" tIns="9144">
            <a:spAutoFit/>
          </a:bodyPr>
          <a:lstStyle/>
          <a:p>
            <a:pPr>
              <a:spcAft>
                <a:spcPts val="200"/>
              </a:spcAft>
              <a:defRPr sz="2500" b="1">
                <a:solidFill>
                  <a:srgbClr val="F2BD62"/>
                </a:solidFill>
                <a:latin typeface="Aptos"/>
              </a:defRPr>
            </a:pPr>
            <a:r>
              <a:rPr>
                <a:solidFill>
                  <a:srgbClr val="FFFFFF"/>
                </a:solidFill>
              </a:rPr>
              <a:t>03</a:t>
            </a:r>
          </a:p>
        </p:txBody>
      </p:sp>
      <p:sp>
        <p:nvSpPr>
          <p:cNvPr id="26" name="TextBox 25"/>
          <p:cNvSpPr txBox="1"/>
          <p:nvPr/>
        </p:nvSpPr>
        <p:spPr>
          <a:xfrm>
            <a:off x="8595360" y="3529584"/>
            <a:ext cx="3236976" cy="530352"/>
          </a:xfrm>
          <a:prstGeom prst="rect">
            <a:avLst/>
          </a:prstGeom>
          <a:noFill/>
        </p:spPr>
        <p:txBody>
          <a:bodyPr wrap="square" lIns="18288" tIns="9144">
            <a:spAutoFit/>
          </a:bodyPr>
          <a:lstStyle/>
          <a:p>
            <a:pPr>
              <a:spcAft>
                <a:spcPts val="200"/>
              </a:spcAft>
              <a:defRPr sz="1800" b="1">
                <a:solidFill>
                  <a:srgbClr val="F7F8FA"/>
                </a:solidFill>
                <a:latin typeface="Aptos"/>
              </a:defRPr>
            </a:pPr>
            <a:r>
              <a:rPr>
                <a:solidFill>
                  <a:srgbClr val="FFFFFF"/>
                </a:solidFill>
              </a:rPr>
              <a:t>CONNECT BUSINESS &amp; IT</a:t>
            </a:r>
          </a:p>
        </p:txBody>
      </p:sp>
      <p:sp>
        <p:nvSpPr>
          <p:cNvPr id="27" name="TextBox 26"/>
          <p:cNvSpPr txBox="1"/>
          <p:nvPr/>
        </p:nvSpPr>
        <p:spPr>
          <a:xfrm>
            <a:off x="8595360" y="4114800"/>
            <a:ext cx="3227832" cy="1389888"/>
          </a:xfrm>
          <a:prstGeom prst="rect">
            <a:avLst/>
          </a:prstGeom>
          <a:noFill/>
        </p:spPr>
        <p:txBody>
          <a:bodyPr wrap="square" lIns="18288" tIns="9144">
            <a:spAutoFit/>
          </a:bodyPr>
          <a:lstStyle/>
          <a:p>
            <a:pPr>
              <a:spcAft>
                <a:spcPts val="200"/>
              </a:spcAft>
              <a:defRPr sz="1400" b="0">
                <a:solidFill>
                  <a:srgbClr val="B4C5D5"/>
                </a:solidFill>
                <a:latin typeface="Aptos"/>
              </a:defRPr>
            </a:pPr>
            <a:r>
              <a:rPr>
                <a:solidFill>
                  <a:srgbClr val="FFFFFF"/>
                </a:solidFill>
              </a:rPr>
              <a:t>Consider people, data, workflows and decisions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97280"/>
            <a:ext cx="12191695"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c-logo-canada-white.png"/>
          <p:cNvPicPr>
            <a:picLocks noChangeAspect="1"/>
          </p:cNvPicPr>
          <p:nvPr/>
        </p:nvPicPr>
        <p:blipFill>
          <a:blip r:embed="rId3"/>
          <a:stretch>
            <a:fillRect/>
          </a:stretch>
        </p:blipFill>
        <p:spPr>
          <a:xfrm>
            <a:off x="530352" y="228600"/>
            <a:ext cx="1357701" cy="530352"/>
          </a:xfrm>
          <a:prstGeom prst="rect">
            <a:avLst/>
          </a:prstGeom>
        </p:spPr>
      </p:pic>
      <p:sp>
        <p:nvSpPr>
          <p:cNvPr id="6" name="Rounded Rectangle 5"/>
          <p:cNvSpPr/>
          <p:nvPr/>
        </p:nvSpPr>
        <p:spPr>
          <a:xfrm>
            <a:off x="10936224" y="173736"/>
            <a:ext cx="786384" cy="786384"/>
          </a:xfrm>
          <a:prstGeom prst="roundRect">
            <a:avLst>
              <a:gd name="adj" fmla="val 12000"/>
            </a:avLst>
          </a:prstGeom>
          <a:solidFill>
            <a:srgbClr val="6D1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s.jpeg"/>
          <p:cNvPicPr>
            <a:picLocks noChangeAspect="1"/>
          </p:cNvPicPr>
          <p:nvPr/>
        </p:nvPicPr>
        <p:blipFill>
          <a:blip r:embed="rId4"/>
          <a:stretch>
            <a:fillRect/>
          </a:stretch>
        </p:blipFill>
        <p:spPr>
          <a:xfrm>
            <a:off x="11009376" y="246888"/>
            <a:ext cx="640080" cy="640080"/>
          </a:xfrm>
          <a:prstGeom prst="rect">
            <a:avLst/>
          </a:prstGeom>
        </p:spPr>
      </p:pic>
      <p:sp>
        <p:nvSpPr>
          <p:cNvPr id="8" name="TextBox 7"/>
          <p:cNvSpPr txBox="1"/>
          <p:nvPr/>
        </p:nvSpPr>
        <p:spPr>
          <a:xfrm>
            <a:off x="566928" y="1280160"/>
            <a:ext cx="10058400" cy="292608"/>
          </a:xfrm>
          <a:prstGeom prst="rect">
            <a:avLst/>
          </a:prstGeom>
          <a:noFill/>
        </p:spPr>
        <p:txBody>
          <a:bodyPr wrap="square" lIns="18288" tIns="9144">
            <a:spAutoFit/>
          </a:bodyPr>
          <a:lstStyle/>
          <a:p>
            <a:pPr>
              <a:spcAft>
                <a:spcPts val="200"/>
              </a:spcAft>
              <a:defRPr sz="1100" b="1">
                <a:solidFill>
                  <a:srgbClr val="F2BD62"/>
                </a:solidFill>
                <a:latin typeface="Aptos"/>
              </a:defRPr>
            </a:pPr>
            <a:r>
              <a:rPr>
                <a:solidFill>
                  <a:srgbClr val="FFFFFF"/>
                </a:solidFill>
              </a:rPr>
              <a:t>QUESTIONS &amp; DISCUSSION</a:t>
            </a:r>
          </a:p>
        </p:txBody>
      </p:sp>
      <p:sp>
        <p:nvSpPr>
          <p:cNvPr id="9" name="TextBox 8"/>
          <p:cNvSpPr txBox="1"/>
          <p:nvPr/>
        </p:nvSpPr>
        <p:spPr>
          <a:xfrm>
            <a:off x="566928" y="1700784"/>
            <a:ext cx="10972800" cy="685800"/>
          </a:xfrm>
          <a:prstGeom prst="rect">
            <a:avLst/>
          </a:prstGeom>
          <a:noFill/>
        </p:spPr>
        <p:txBody>
          <a:bodyPr wrap="square" lIns="18288" tIns="9144">
            <a:spAutoFit/>
          </a:bodyPr>
          <a:lstStyle/>
          <a:p>
            <a:pPr>
              <a:spcAft>
                <a:spcPts val="200"/>
              </a:spcAft>
              <a:defRPr sz="3100" b="1">
                <a:solidFill>
                  <a:srgbClr val="F7F8FA"/>
                </a:solidFill>
                <a:latin typeface="Aptos"/>
              </a:defRPr>
            </a:pPr>
            <a:r>
              <a:rPr>
                <a:solidFill>
                  <a:srgbClr val="FFFFFF"/>
                </a:solidFill>
              </a:rPr>
              <a:t>Thank you</a:t>
            </a:r>
          </a:p>
        </p:txBody>
      </p:sp>
      <p:sp>
        <p:nvSpPr>
          <p:cNvPr id="10" name="Rectangle 9"/>
          <p:cNvSpPr/>
          <p:nvPr/>
        </p:nvSpPr>
        <p:spPr>
          <a:xfrm>
            <a:off x="566928" y="6464808"/>
            <a:ext cx="11064240" cy="10972"/>
          </a:xfrm>
          <a:prstGeom prst="rect">
            <a:avLst/>
          </a:prstGeom>
          <a:solidFill>
            <a:srgbClr val="173B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 y="6519672"/>
            <a:ext cx="5486400" cy="182880"/>
          </a:xfrm>
          <a:prstGeom prst="rect">
            <a:avLst/>
          </a:prstGeom>
          <a:noFill/>
        </p:spPr>
        <p:txBody>
          <a:bodyPr wrap="square" lIns="18288" tIns="9144">
            <a:spAutoFit/>
          </a:bodyPr>
          <a:lstStyle/>
          <a:p>
            <a:pPr>
              <a:spcAft>
                <a:spcPts val="200"/>
              </a:spcAft>
              <a:defRPr sz="900" b="0">
                <a:solidFill>
                  <a:srgbClr val="B4C5D5"/>
                </a:solidFill>
                <a:latin typeface="Aptos"/>
              </a:defRPr>
            </a:pPr>
            <a:r>
              <a:rPr>
                <a:solidFill>
                  <a:srgbClr val="FFFFFF"/>
                </a:solidFill>
              </a:rPr>
              <a:t>MINECONNECT  /  CAMBRIAN COLLEGE</a:t>
            </a:r>
          </a:p>
        </p:txBody>
      </p:sp>
      <p:sp>
        <p:nvSpPr>
          <p:cNvPr id="12" name="TextBox 11"/>
          <p:cNvSpPr txBox="1"/>
          <p:nvPr/>
        </p:nvSpPr>
        <p:spPr>
          <a:xfrm>
            <a:off x="10698480" y="6510528"/>
            <a:ext cx="914400" cy="201168"/>
          </a:xfrm>
          <a:prstGeom prst="rect">
            <a:avLst/>
          </a:prstGeom>
          <a:noFill/>
        </p:spPr>
        <p:txBody>
          <a:bodyPr wrap="square" lIns="18288" tIns="9144">
            <a:spAutoFit/>
          </a:bodyPr>
          <a:lstStyle/>
          <a:p>
            <a:pPr>
              <a:spcAft>
                <a:spcPts val="200"/>
              </a:spcAft>
              <a:defRPr sz="900" b="1">
                <a:solidFill>
                  <a:srgbClr val="F2BD62"/>
                </a:solidFill>
                <a:latin typeface="Aptos"/>
              </a:defRPr>
            </a:pPr>
            <a:r>
              <a:rPr>
                <a:solidFill>
                  <a:srgbClr val="FFFFFF"/>
                </a:solidFill>
              </a:rPr>
              <a:t>20  /  20</a:t>
            </a:r>
          </a:p>
        </p:txBody>
      </p:sp>
      <p:sp>
        <p:nvSpPr>
          <p:cNvPr id="13" name="TextBox 12"/>
          <p:cNvSpPr txBox="1"/>
          <p:nvPr/>
        </p:nvSpPr>
        <p:spPr>
          <a:xfrm>
            <a:off x="685800" y="3072384"/>
            <a:ext cx="9144000" cy="731520"/>
          </a:xfrm>
          <a:prstGeom prst="rect">
            <a:avLst/>
          </a:prstGeom>
          <a:noFill/>
        </p:spPr>
        <p:txBody>
          <a:bodyPr wrap="square" lIns="18288" tIns="9144">
            <a:spAutoFit/>
          </a:bodyPr>
          <a:lstStyle/>
          <a:p>
            <a:pPr>
              <a:spcAft>
                <a:spcPts val="200"/>
              </a:spcAft>
              <a:defRPr sz="3400" b="1">
                <a:solidFill>
                  <a:srgbClr val="F7F8FA"/>
                </a:solidFill>
                <a:latin typeface="Aptos"/>
              </a:defRPr>
            </a:pPr>
            <a:r>
              <a:rPr>
                <a:solidFill>
                  <a:srgbClr val="FFFFFF"/>
                </a:solidFill>
              </a:rPr>
              <a:t>MUHAMMAD HARIS</a:t>
            </a:r>
          </a:p>
        </p:txBody>
      </p:sp>
      <p:sp>
        <p:nvSpPr>
          <p:cNvPr id="14" name="Rectangle 13"/>
          <p:cNvSpPr/>
          <p:nvPr/>
        </p:nvSpPr>
        <p:spPr>
          <a:xfrm>
            <a:off x="713232" y="3977639"/>
            <a:ext cx="1965960" cy="64008"/>
          </a:xfrm>
          <a:prstGeom prst="rect">
            <a:avLst/>
          </a:prstGeom>
          <a:solidFill>
            <a:srgbClr val="F2B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4389120"/>
            <a:ext cx="10058400" cy="731520"/>
          </a:xfrm>
          <a:prstGeom prst="rect">
            <a:avLst/>
          </a:prstGeom>
          <a:noFill/>
        </p:spPr>
        <p:txBody>
          <a:bodyPr wrap="square" lIns="18288" tIns="9144">
            <a:spAutoFit/>
          </a:bodyPr>
          <a:lstStyle/>
          <a:p>
            <a:pPr>
              <a:spcAft>
                <a:spcPts val="200"/>
              </a:spcAft>
              <a:defRPr sz="2000" b="0">
                <a:solidFill>
                  <a:srgbClr val="B4C5D5"/>
                </a:solidFill>
                <a:latin typeface="Aptos"/>
              </a:defRPr>
            </a:pPr>
            <a:r>
              <a:rPr>
                <a:solidFill>
                  <a:srgbClr val="FFFFFF"/>
                </a:solidFill>
              </a:rPr>
              <a:t>IT Business Analysis  •  MineConnect  •  Cambrian College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1548</Words>
  <Application>Microsoft Macintosh PowerPoint</Application>
  <PresentationFormat>Widescreen</PresentationFormat>
  <Paragraphs>242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Lisa McIvor</dc:creator>
  <cp:keywords/>
  <dc:description>generated using python-pptx</dc:description>
  <cp:lastModifiedBy>Muhammad Haris</cp:lastModifiedBy>
  <cp:revision>5</cp:revision>
  <dcterms:created xsi:type="dcterms:W3CDTF">2013-01-27T09:14:16Z</dcterms:created>
  <dcterms:modified xsi:type="dcterms:W3CDTF">2026-10-21T19:23:22Z</dcterms:modified>
  <cp:category/>
</cp:coreProperties>
</file>