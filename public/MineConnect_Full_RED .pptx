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9"/>
  </p:normalViewPr>
  <p:slideViewPr>
    <p:cSldViewPr snapToGrid="0" snapToObjects="1">
      <p:cViewPr varScale="1">
        <p:scale>
          <a:sx n="114" d="100"/>
          <a:sy n="114" d="100"/>
        </p:scale>
        <p:origin x="49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4876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yourself, your seven-week placement at MineConnect, and the purpose of this presentation: to explain the work you performed, the business analysis methods you applied, and the value of the outputs you prepared.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the placement combined technology analysis, business research, and ongoing association communications. Five refers to the Yapla areas documented in your assessment, not to five completed system implementations.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MineConnect is an Ontario mining supply and services association. The migration planning was an important context, but the organization also had ongoing communications and administrative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Give one real example from each responsibility. Avoid presenting this as only a CRM placement: you also supported newsletters, event postings, research, and everyday office activities.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process you applied across the placement. Emphasize independent observation, critical thinking, and asking clear questions rather than making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 explored Members, Membership Types, Payments, Website and Events and watched matching Yapla Academy training. My findings were based on what was visible in the account at the time, not on a completed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difference between an observation and a conclusion. Not seeing an import button does not prove the system lacks import capability. The resulting questions were documented for supervisor or vendor confirmation.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 reviewed the existing membership discovery questionnaire and prepared a concise review of business rules, unresolved questions, and directory expectations. The work informed planning; I did not complete the data migration.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are recommendations arising from the assessment, not actions claimed as completed. Mention vendor involvement and data quality checks before any production import.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deliverable was initial planning research, not a finished industry study or issued RFP. Explain why a province-wide sample should consider organizations beyond existing association members.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Describe how stratified sampling could improve coverage and representation across Ontario. These are proposed research dimensions, not actual measured proportions or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 precise about scope: a Google Form was created. The report does not establish that both versions were fully deployed in Microsoft Forms. Explain how structured responses make follow-up easier.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routine but important work you supported: newsletter content, event information, website-related tasks, and keeping stakeholders informed. Give a concrete example from your own work, without disclosing unpublished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banner was an initial draft, not necessarily the final approved artwork. Describe communication with colleagues and adapting to changing priorities.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Distinguish formal artifacts from ongoing operational contributions. These outputs helped make findings, questions and follow-up decisions visible to the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one personal example of adapting to an unfamiliar task. Show the action you took and the skill developed rather than focusing on difficulties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Connect these examples to the program VLOs and CLOs. Be transparent that formal negotiation and a complete UAT cycle were not major completed activities in the available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impact is improved clarity and organized preparation, not a claim that the migration or research study launched. Keep your explanation grounded in the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your portfolio in a browser. Briefly demonstrate one relevant project from semester one or two. Show a MineConnect artifact only if it is approved for public presentation; otherwise describe your work without showing confidential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Reflect in first person. Explain how the placement strengthened your confidence in business analysis and taught you that good implementation begins with understanding organizational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Thank MineConnect, your supervisor, colleagues, and Cambrian College for the opportunity.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ine_landscape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9995" y="0"/>
            <a:ext cx="48737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0" y="0"/>
            <a:ext cx="109728" cy="6858000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132320" cy="6858000"/>
          </a:xfrm>
          <a:prstGeom prst="rect">
            <a:avLst/>
          </a:prstGeom>
          <a:solidFill>
            <a:srgbClr val="07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6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mc-logo-canada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47472"/>
            <a:ext cx="2949489" cy="115214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469880" y="310896"/>
            <a:ext cx="987552" cy="987552"/>
          </a:xfrm>
          <a:prstGeom prst="roundRect">
            <a:avLst>
              <a:gd name="adj" fmla="val 12000"/>
            </a:avLst>
          </a:prstGeom>
          <a:solidFill>
            <a:srgbClr val="6D1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s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1320" y="393192"/>
            <a:ext cx="804672" cy="804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1975104"/>
            <a:ext cx="6400800" cy="4572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F2BD62"/>
                </a:solidFill>
                <a:latin typeface="Aptos"/>
              </a:defRPr>
            </a:pPr>
            <a:r>
              <a:t>FINAL WORK PLACEMENT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487168"/>
            <a:ext cx="6446520" cy="153619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4200" b="1">
                <a:solidFill>
                  <a:srgbClr val="F7F8FA"/>
                </a:solidFill>
                <a:latin typeface="Aptos"/>
              </a:defRPr>
            </a:pPr>
            <a:r>
              <a:t>Business Analysis</a:t>
            </a:r>
          </a:p>
          <a:p>
            <a:pPr>
              <a:spcAft>
                <a:spcPts val="200"/>
              </a:spcAft>
              <a:defRPr sz="4200" b="1">
                <a:solidFill>
                  <a:srgbClr val="F7F8FA"/>
                </a:solidFill>
                <a:latin typeface="Aptos"/>
              </a:defRPr>
            </a:pPr>
            <a:r>
              <a:t>in Practice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233672"/>
            <a:ext cx="960120" cy="64008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" y="4517136"/>
            <a:ext cx="6217920" cy="34778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900" b="0">
                <a:solidFill>
                  <a:srgbClr val="B4C5D5"/>
                </a:solidFill>
                <a:latin typeface="Aptos"/>
              </a:defRPr>
            </a:pPr>
            <a:r>
              <a:rPr lang="en-CA" dirty="0"/>
              <a:t>P</a:t>
            </a:r>
            <a:r>
              <a:rPr dirty="0" err="1"/>
              <a:t>lacement</a:t>
            </a:r>
            <a:r>
              <a:rPr dirty="0"/>
              <a:t> at </a:t>
            </a:r>
            <a:r>
              <a:rPr dirty="0" err="1"/>
              <a:t>MineConnect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667512" y="5532120"/>
            <a:ext cx="6309360" cy="29260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7F8FA"/>
                </a:solidFill>
                <a:latin typeface="Aptos"/>
              </a:defRPr>
            </a:pPr>
            <a:r>
              <a:t>MUHAMMAD HARIS  •  IT BUSINESS ANALYSIS (BAGC)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5897880"/>
            <a:ext cx="6217920" cy="27432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F2BD62"/>
                </a:solidFill>
                <a:latin typeface="Aptos"/>
              </a:defRPr>
            </a:pPr>
            <a:r>
              <a:t>September 8 – October 23, 2026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6F34BF7-C7DC-388F-B0D5-AAE36D10C8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" y="1"/>
            <a:ext cx="12220906" cy="68706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10972"/>
          </a:xfrm>
          <a:prstGeom prst="rect">
            <a:avLst/>
          </a:prstGeom>
          <a:solidFill>
            <a:srgbClr val="173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c-logo-canada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28600"/>
            <a:ext cx="1357701" cy="53035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936224" y="173736"/>
            <a:ext cx="786384" cy="786384"/>
          </a:xfrm>
          <a:prstGeom prst="roundRect">
            <a:avLst>
              <a:gd name="adj" fmla="val 12000"/>
            </a:avLst>
          </a:prstGeom>
          <a:solidFill>
            <a:srgbClr val="6D1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s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9376" y="246888"/>
            <a:ext cx="640080" cy="640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1280160"/>
            <a:ext cx="10058400" cy="29260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2BD62"/>
                </a:solidFill>
                <a:latin typeface="Aptos"/>
              </a:defRPr>
            </a:pPr>
            <a:r>
              <a:t>THE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00784"/>
            <a:ext cx="10972800" cy="6858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3100" b="1">
                <a:solidFill>
                  <a:srgbClr val="F7F8FA"/>
                </a:solidFill>
                <a:latin typeface="Aptos"/>
              </a:defRPr>
            </a:pPr>
            <a:r>
              <a:t>Placement at a glance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464808"/>
            <a:ext cx="11064240" cy="10972"/>
          </a:xfrm>
          <a:prstGeom prst="rect">
            <a:avLst/>
          </a:prstGeom>
          <a:solidFill>
            <a:srgbClr val="173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6072" y="6519672"/>
            <a:ext cx="5486400" cy="18288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B4C5D5"/>
                </a:solidFill>
                <a:latin typeface="Aptos"/>
              </a:defRPr>
            </a:pPr>
            <a:r>
              <a:t>MINECONNECT  /  CAMBRIAN COLLEGE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510528"/>
            <a:ext cx="914400" cy="20116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F2BD62"/>
                </a:solidFill>
                <a:latin typeface="Aptos"/>
              </a:defRPr>
            </a:pPr>
            <a:r>
              <a:t>02  /  21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16352"/>
            <a:ext cx="3438144" cy="2240280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" y="3054096"/>
            <a:ext cx="3017520" cy="969264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5100" b="1">
                <a:solidFill>
                  <a:srgbClr val="F2BD62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169663"/>
            <a:ext cx="3017520" cy="59436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F7F8FA"/>
                </a:solidFill>
                <a:latin typeface="Aptos"/>
              </a:defRPr>
            </a:pPr>
            <a:r>
              <a:t>Weeks of workplace learning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33672" y="2816352"/>
            <a:ext cx="3438144" cy="2240280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53128" y="3054096"/>
            <a:ext cx="3017520" cy="969264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5100" b="1">
                <a:solidFill>
                  <a:srgbClr val="F2BD6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4169663"/>
            <a:ext cx="3017520" cy="59436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F7F8FA"/>
                </a:solidFill>
                <a:latin typeface="Aptos"/>
              </a:defRPr>
            </a:pPr>
            <a:r>
              <a:t>Yapla modules explored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2816352"/>
            <a:ext cx="3438144" cy="2240280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37576" y="3054096"/>
            <a:ext cx="3017520" cy="969264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5100" b="1">
                <a:solidFill>
                  <a:srgbClr val="F2BD6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4169663"/>
            <a:ext cx="3017520" cy="59436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F7F8FA"/>
                </a:solidFill>
                <a:latin typeface="Aptos"/>
              </a:defRPr>
            </a:pPr>
            <a:r>
              <a:t>Core workstreams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" y="5532120"/>
            <a:ext cx="10972800" cy="4572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B4C5D5"/>
                </a:solidFill>
                <a:latin typeface="Aptos"/>
              </a:defRPr>
            </a:pPr>
            <a:r>
              <a:t>PLATFORM DISCOVERY   •   RESEARCH &amp; REQUIREMENTS   •   COMMUNICATIONS &amp; OPERATIONS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10972"/>
          </a:xfrm>
          <a:prstGeom prst="rect">
            <a:avLst/>
          </a:prstGeom>
          <a:solidFill>
            <a:srgbClr val="173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c-logo-canada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28600"/>
            <a:ext cx="1357701" cy="53035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936224" y="173736"/>
            <a:ext cx="786384" cy="786384"/>
          </a:xfrm>
          <a:prstGeom prst="roundRect">
            <a:avLst>
              <a:gd name="adj" fmla="val 12000"/>
            </a:avLst>
          </a:prstGeom>
          <a:solidFill>
            <a:srgbClr val="6D1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s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9376" y="246888"/>
            <a:ext cx="640080" cy="640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1280160"/>
            <a:ext cx="10058400" cy="29260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2BD62"/>
                </a:solidFill>
                <a:latin typeface="Aptos"/>
              </a:defRPr>
            </a:pPr>
            <a:r>
              <a:t>ORGANIZATION &amp; BUSINESS NEED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00784"/>
            <a:ext cx="10972800" cy="6858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3100" b="1">
                <a:solidFill>
                  <a:srgbClr val="F7F8FA"/>
                </a:solidFill>
                <a:latin typeface="Aptos"/>
              </a:defRPr>
            </a:pPr>
            <a:r>
              <a:t>Understanding MineConnect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464808"/>
            <a:ext cx="11064240" cy="10972"/>
          </a:xfrm>
          <a:prstGeom prst="rect">
            <a:avLst/>
          </a:prstGeom>
          <a:solidFill>
            <a:srgbClr val="173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6072" y="6519672"/>
            <a:ext cx="5486400" cy="18288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B4C5D5"/>
                </a:solidFill>
                <a:latin typeface="Aptos"/>
              </a:defRPr>
            </a:pPr>
            <a:r>
              <a:t>MINECONNECT  /  CAMBRIAN COLLEGE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510528"/>
            <a:ext cx="914400" cy="20116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F2BD62"/>
                </a:solidFill>
                <a:latin typeface="Aptos"/>
              </a:defRPr>
            </a:pPr>
            <a:r>
              <a:t>03  /  21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788920"/>
            <a:ext cx="5321808" cy="2514600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8368" y="2788920"/>
            <a:ext cx="64008" cy="2514600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" y="3008376"/>
            <a:ext cx="4937760" cy="53035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7F8FA"/>
                </a:solidFill>
                <a:latin typeface="Aptos"/>
              </a:defRPr>
            </a:pPr>
            <a:r>
              <a:t>Association 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3630168"/>
            <a:ext cx="4928616" cy="157276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B4C5D5"/>
                </a:solidFill>
                <a:latin typeface="Aptos"/>
              </a:defRPr>
            </a:pPr>
            <a:r>
              <a:t>Membership engagement, sector visibility, industry events, newsletters, and member services.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2788920"/>
            <a:ext cx="5321808" cy="2514600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99632" y="2788920"/>
            <a:ext cx="64008" cy="2514600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3008376"/>
            <a:ext cx="4937760" cy="53035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7F8FA"/>
                </a:solidFill>
                <a:latin typeface="Aptos"/>
              </a:defRPr>
            </a:pPr>
            <a:r>
              <a:t>Technology transition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630168"/>
            <a:ext cx="4928616" cy="157276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B4C5D5"/>
                </a:solidFill>
                <a:latin typeface="Aptos"/>
              </a:defRPr>
            </a:pPr>
            <a:r>
              <a:t>Preparing to move membership-related processes from Microsoft Dynamics 365 to Yapla.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5669280"/>
            <a:ext cx="9875520" cy="475488"/>
          </a:xfrm>
          <a:prstGeom prst="roundRect">
            <a:avLst>
              <a:gd name="adj" fmla="val 12000"/>
            </a:avLst>
          </a:prstGeom>
          <a:solidFill>
            <a:srgbClr val="173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25880" y="5779008"/>
            <a:ext cx="9601200" cy="27432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F7F8FA"/>
                </a:solidFill>
                <a:latin typeface="Aptos"/>
              </a:defRPr>
            </a:pPr>
            <a:r>
              <a:t>Business needs: membership rules  •  billing  •  data migration  •  directory experience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10972"/>
          </a:xfrm>
          <a:prstGeom prst="rect">
            <a:avLst/>
          </a:prstGeom>
          <a:solidFill>
            <a:srgbClr val="173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c-logo-canada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28600"/>
            <a:ext cx="1357701" cy="53035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936224" y="173736"/>
            <a:ext cx="786384" cy="786384"/>
          </a:xfrm>
          <a:prstGeom prst="roundRect">
            <a:avLst>
              <a:gd name="adj" fmla="val 12000"/>
            </a:avLst>
          </a:prstGeom>
          <a:solidFill>
            <a:srgbClr val="6D1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s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9376" y="246888"/>
            <a:ext cx="640080" cy="640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1280160"/>
            <a:ext cx="10058400" cy="29260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2BD62"/>
                </a:solidFill>
                <a:latin typeface="Aptos"/>
              </a:defRPr>
            </a:pPr>
            <a:r>
              <a:t>WHAT I WORKED 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00784"/>
            <a:ext cx="10972800" cy="6858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3100" b="1">
                <a:solidFill>
                  <a:srgbClr val="F7F8FA"/>
                </a:solidFill>
                <a:latin typeface="Aptos"/>
              </a:defRPr>
            </a:pPr>
            <a:r>
              <a:t>My scope of responsibility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464808"/>
            <a:ext cx="11064240" cy="10972"/>
          </a:xfrm>
          <a:prstGeom prst="rect">
            <a:avLst/>
          </a:prstGeom>
          <a:solidFill>
            <a:srgbClr val="173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6072" y="6519672"/>
            <a:ext cx="5486400" cy="18288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B4C5D5"/>
                </a:solidFill>
                <a:latin typeface="Aptos"/>
              </a:defRPr>
            </a:pPr>
            <a:r>
              <a:t>MINECONNECT  /  CAMBRIAN COLLEGE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510528"/>
            <a:ext cx="914400" cy="20116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F2BD62"/>
                </a:solidFill>
                <a:latin typeface="Aptos"/>
              </a:defRPr>
            </a:pPr>
            <a:r>
              <a:t>04  /  21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743200"/>
            <a:ext cx="3611880" cy="1280160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7" y="2953512"/>
            <a:ext cx="640080" cy="4572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F2BD6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3035808"/>
            <a:ext cx="2514600" cy="71323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F7F8FA"/>
                </a:solidFill>
                <a:latin typeface="Aptos"/>
              </a:defRPr>
            </a:pPr>
            <a:r>
              <a:t>Yapla platform discovery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2743200"/>
            <a:ext cx="3611880" cy="1280160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09160" y="2953512"/>
            <a:ext cx="640080" cy="4572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F2BD6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13248" y="3035808"/>
            <a:ext cx="2514600" cy="71323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F7F8FA"/>
                </a:solidFill>
                <a:latin typeface="Aptos"/>
              </a:defRPr>
            </a:pPr>
            <a:r>
              <a:t>Membership requirements review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94192" y="2743200"/>
            <a:ext cx="3611880" cy="1280160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77072" y="2953512"/>
            <a:ext cx="640080" cy="4572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F2BD6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3035808"/>
            <a:ext cx="2514600" cy="71323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F7F8FA"/>
                </a:solidFill>
                <a:latin typeface="Aptos"/>
              </a:defRPr>
            </a:pPr>
            <a:r>
              <a:t>MSS industry study research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251960"/>
            <a:ext cx="3611880" cy="1280160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7" y="4462272"/>
            <a:ext cx="640080" cy="4572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F2BD6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45336" y="4544568"/>
            <a:ext cx="2514600" cy="71323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F7F8FA"/>
                </a:solidFill>
                <a:latin typeface="Aptos"/>
              </a:defRPr>
            </a:pPr>
            <a:r>
              <a:t>Digital member-visit forms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26280" y="4251960"/>
            <a:ext cx="3611880" cy="1280160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09160" y="4462272"/>
            <a:ext cx="640080" cy="4572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F2BD6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13248" y="4544568"/>
            <a:ext cx="2514600" cy="71323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F7F8FA"/>
                </a:solidFill>
                <a:latin typeface="Aptos"/>
              </a:defRPr>
            </a:pPr>
            <a:r>
              <a:t>Newsletters, events &amp; website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94192" y="4251960"/>
            <a:ext cx="3611880" cy="1280160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77072" y="4462272"/>
            <a:ext cx="640080" cy="4572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F2BD6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4544568"/>
            <a:ext cx="2514600" cy="71323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F7F8FA"/>
                </a:solidFill>
                <a:latin typeface="Aptos"/>
              </a:defRPr>
            </a:pPr>
            <a:r>
              <a:t>Documentation &amp; office support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10972"/>
          </a:xfrm>
          <a:prstGeom prst="rect">
            <a:avLst/>
          </a:prstGeom>
          <a:solidFill>
            <a:srgbClr val="173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c-logo-canada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28600"/>
            <a:ext cx="1357701" cy="53035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936224" y="173736"/>
            <a:ext cx="786384" cy="786384"/>
          </a:xfrm>
          <a:prstGeom prst="roundRect">
            <a:avLst>
              <a:gd name="adj" fmla="val 12000"/>
            </a:avLst>
          </a:prstGeom>
          <a:solidFill>
            <a:srgbClr val="6D1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s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9376" y="246888"/>
            <a:ext cx="640080" cy="640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1280160"/>
            <a:ext cx="10058400" cy="29260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2BD62"/>
                </a:solidFill>
                <a:latin typeface="Aptos"/>
              </a:defRPr>
            </a:pPr>
            <a:r>
              <a:t>BUSINESS ANALYSIS PRACTICE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00784"/>
            <a:ext cx="10972800" cy="6858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3100" b="1">
                <a:solidFill>
                  <a:srgbClr val="F7F8FA"/>
                </a:solidFill>
                <a:latin typeface="Aptos"/>
              </a:defRPr>
            </a:pPr>
            <a:r>
              <a:t>How I approached the 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464808"/>
            <a:ext cx="11064240" cy="10972"/>
          </a:xfrm>
          <a:prstGeom prst="rect">
            <a:avLst/>
          </a:prstGeom>
          <a:solidFill>
            <a:srgbClr val="173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6072" y="6519672"/>
            <a:ext cx="5486400" cy="18288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B4C5D5"/>
                </a:solidFill>
                <a:latin typeface="Aptos"/>
              </a:defRPr>
            </a:pPr>
            <a:r>
              <a:t>MINECONNECT  /  CAMBRIAN COLLEGE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510528"/>
            <a:ext cx="914400" cy="20116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F2BD62"/>
                </a:solidFill>
                <a:latin typeface="Aptos"/>
              </a:defRPr>
            </a:pPr>
            <a:r>
              <a:t>05  /  21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2852928"/>
            <a:ext cx="2679192" cy="2514600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2648" y="2852928"/>
            <a:ext cx="64008" cy="2514600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3816" y="3035808"/>
            <a:ext cx="566928" cy="420624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2500" b="1">
                <a:solidFill>
                  <a:srgbClr val="F2BD6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3575304"/>
            <a:ext cx="2295144" cy="53035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7F8FA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" y="4160520"/>
            <a:ext cx="2286000" cy="116128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B4C5D5"/>
                </a:solidFill>
                <a:latin typeface="Aptos"/>
              </a:defRPr>
            </a:pPr>
            <a:r>
              <a:t>Explore system screens and source materials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64408" y="3886200"/>
            <a:ext cx="292608" cy="50292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F2BD6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9584" y="2852928"/>
            <a:ext cx="2679192" cy="2514600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529584" y="2852928"/>
            <a:ext cx="64008" cy="2514600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30752" y="3035808"/>
            <a:ext cx="566928" cy="420624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2500" b="1">
                <a:solidFill>
                  <a:srgbClr val="F2BD6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30752" y="3575304"/>
            <a:ext cx="2295144" cy="53035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7F8FA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30752" y="4160520"/>
            <a:ext cx="2286000" cy="116128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B4C5D5"/>
                </a:solidFill>
                <a:latin typeface="Aptos"/>
              </a:defRPr>
            </a:pPr>
            <a:r>
              <a:t>Identify business rules, gaps and decisions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81344" y="3886200"/>
            <a:ext cx="292608" cy="50292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F2BD6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46520" y="2852928"/>
            <a:ext cx="2679192" cy="2514600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46520" y="2852928"/>
            <a:ext cx="64008" cy="2514600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47688" y="3035808"/>
            <a:ext cx="566928" cy="420624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2500" b="1">
                <a:solidFill>
                  <a:srgbClr val="F2BD6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7688" y="3575304"/>
            <a:ext cx="2295144" cy="53035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7F8FA"/>
                </a:solidFill>
                <a:latin typeface="Aptos"/>
              </a:defRPr>
            </a:pPr>
            <a:r>
              <a:t>DOCUMENT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47688" y="4160520"/>
            <a:ext cx="2286000" cy="116128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B4C5D5"/>
                </a:solidFill>
                <a:latin typeface="Aptos"/>
              </a:defRPr>
            </a:pPr>
            <a:r>
              <a:t>Prepare findings and planning materials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3886200"/>
            <a:ext cx="292608" cy="50292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F2BD6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63456" y="2852928"/>
            <a:ext cx="2679192" cy="2514600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363456" y="2852928"/>
            <a:ext cx="64008" cy="2514600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564624" y="3035808"/>
            <a:ext cx="566928" cy="420624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2500" b="1">
                <a:solidFill>
                  <a:srgbClr val="F2BD6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64624" y="3575304"/>
            <a:ext cx="2295144" cy="53035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7F8FA"/>
                </a:solidFill>
                <a:latin typeface="Aptos"/>
              </a:defRPr>
            </a:pPr>
            <a:r>
              <a:t>COMMUNICATE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64624" y="4160520"/>
            <a:ext cx="2286000" cy="116128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B4C5D5"/>
                </a:solidFill>
                <a:latin typeface="Aptos"/>
              </a:defRPr>
            </a:pPr>
            <a:r>
              <a:t>Discuss questions and support operations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10972"/>
          </a:xfrm>
          <a:prstGeom prst="rect">
            <a:avLst/>
          </a:prstGeom>
          <a:solidFill>
            <a:srgbClr val="173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c-logo-canada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28600"/>
            <a:ext cx="1357701" cy="53035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936224" y="173736"/>
            <a:ext cx="786384" cy="786384"/>
          </a:xfrm>
          <a:prstGeom prst="roundRect">
            <a:avLst>
              <a:gd name="adj" fmla="val 12000"/>
            </a:avLst>
          </a:prstGeom>
          <a:solidFill>
            <a:srgbClr val="6D1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s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9376" y="246888"/>
            <a:ext cx="640080" cy="640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1280160"/>
            <a:ext cx="10058400" cy="29260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2BD62"/>
                </a:solidFill>
                <a:latin typeface="Aptos"/>
              </a:defRPr>
            </a:pPr>
            <a:r>
              <a:t>PLATFORM DISCOVERY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00784"/>
            <a:ext cx="10972800" cy="6858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3100" b="1">
                <a:solidFill>
                  <a:srgbClr val="F7F8FA"/>
                </a:solidFill>
                <a:latin typeface="Aptos"/>
              </a:defRPr>
            </a:pPr>
            <a:r>
              <a:t>Yapla: five areas explored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464808"/>
            <a:ext cx="11064240" cy="10972"/>
          </a:xfrm>
          <a:prstGeom prst="rect">
            <a:avLst/>
          </a:prstGeom>
          <a:solidFill>
            <a:srgbClr val="173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6072" y="6519672"/>
            <a:ext cx="5486400" cy="18288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B4C5D5"/>
                </a:solidFill>
                <a:latin typeface="Aptos"/>
              </a:defRPr>
            </a:pPr>
            <a:r>
              <a:t>MINECONNECT  /  CAMBRIAN COLLEGE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510528"/>
            <a:ext cx="914400" cy="20116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F2BD62"/>
                </a:solidFill>
                <a:latin typeface="Aptos"/>
              </a:defRPr>
            </a:pPr>
            <a:r>
              <a:t>06  /  21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770632"/>
            <a:ext cx="2139696" cy="2816352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3504" y="2770632"/>
            <a:ext cx="2139696" cy="73152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" y="3127248"/>
            <a:ext cx="914400" cy="50292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F2BD6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776472"/>
            <a:ext cx="1920240" cy="38404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7F8FA"/>
                </a:solidFill>
                <a:latin typeface="Aptos"/>
              </a:defRPr>
            </a:pPr>
            <a:r>
              <a:t>MEMBERS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43400"/>
            <a:ext cx="1865376" cy="82296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B4C5D5"/>
                </a:solidFill>
                <a:latin typeface="Aptos"/>
              </a:defRPr>
            </a:pPr>
            <a:r>
              <a:t>Records and import questions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35224" y="2770632"/>
            <a:ext cx="2139696" cy="2816352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935224" y="2770632"/>
            <a:ext cx="2139696" cy="73152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136392" y="3127248"/>
            <a:ext cx="914400" cy="50292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F2BD6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776472"/>
            <a:ext cx="1920240" cy="38404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7F8FA"/>
                </a:solidFill>
                <a:latin typeface="Aptos"/>
              </a:defRPr>
            </a:pPr>
            <a:r>
              <a:t>MEMBERSHIPS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4343400"/>
            <a:ext cx="1865376" cy="82296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B4C5D5"/>
                </a:solidFill>
                <a:latin typeface="Aptos"/>
              </a:defRPr>
            </a:pPr>
            <a:r>
              <a:t>Tiers, delegates and renewal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66944" y="2770632"/>
            <a:ext cx="2139696" cy="2816352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266944" y="2770632"/>
            <a:ext cx="2139696" cy="73152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68112" y="3127248"/>
            <a:ext cx="914400" cy="50292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F2BD6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0680" y="3776472"/>
            <a:ext cx="1920240" cy="38404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7F8FA"/>
                </a:solidFill>
                <a:latin typeface="Aptos"/>
              </a:defRPr>
            </a:pPr>
            <a:r>
              <a:t>PAYMENTS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4343400"/>
            <a:ext cx="1865376" cy="82296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B4C5D5"/>
                </a:solidFill>
                <a:latin typeface="Aptos"/>
              </a:defRPr>
            </a:pPr>
            <a:r>
              <a:t>Configuration and fees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98663" y="2770632"/>
            <a:ext cx="2139696" cy="2816352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598663" y="2770632"/>
            <a:ext cx="2139696" cy="73152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99831" y="3127248"/>
            <a:ext cx="914400" cy="50292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F2BD6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399" y="3776472"/>
            <a:ext cx="1920240" cy="38404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7F8FA"/>
                </a:solidFill>
                <a:latin typeface="Aptos"/>
              </a:defRPr>
            </a:pPr>
            <a:r>
              <a:t>WEBSITE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399" y="4343400"/>
            <a:ext cx="1865376" cy="82296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B4C5D5"/>
                </a:solidFill>
                <a:latin typeface="Aptos"/>
              </a:defRPr>
            </a:pPr>
            <a:r>
              <a:t>Structure and content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30384" y="2770632"/>
            <a:ext cx="2139696" cy="2816352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930384" y="2770632"/>
            <a:ext cx="2139696" cy="73152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131552" y="3127248"/>
            <a:ext cx="914400" cy="50292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F2BD6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04119" y="3776472"/>
            <a:ext cx="1920240" cy="38404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7F8FA"/>
                </a:solidFill>
                <a:latin typeface="Aptos"/>
              </a:defRPr>
            </a:pPr>
            <a:r>
              <a:t>EVENTS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04119" y="4343400"/>
            <a:ext cx="1865376" cy="82296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B4C5D5"/>
                </a:solidFill>
                <a:latin typeface="Aptos"/>
              </a:defRPr>
            </a:pPr>
            <a:r>
              <a:t>Setup and registration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10972"/>
          </a:xfrm>
          <a:prstGeom prst="rect">
            <a:avLst/>
          </a:prstGeom>
          <a:solidFill>
            <a:srgbClr val="173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c-logo-canada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28600"/>
            <a:ext cx="1357701" cy="53035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936224" y="173736"/>
            <a:ext cx="786384" cy="786384"/>
          </a:xfrm>
          <a:prstGeom prst="roundRect">
            <a:avLst>
              <a:gd name="adj" fmla="val 12000"/>
            </a:avLst>
          </a:prstGeom>
          <a:solidFill>
            <a:srgbClr val="6D1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s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9376" y="246888"/>
            <a:ext cx="640080" cy="640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1280160"/>
            <a:ext cx="10058400" cy="29260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2BD62"/>
                </a:solidFill>
                <a:latin typeface="Aptos"/>
              </a:defRPr>
            </a:pPr>
            <a:r>
              <a:t>FINDINGS &amp; DECISIONS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00784"/>
            <a:ext cx="10972800" cy="6858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3100" b="1">
                <a:solidFill>
                  <a:srgbClr val="F7F8FA"/>
                </a:solidFill>
                <a:latin typeface="Aptos"/>
              </a:defRPr>
            </a:pPr>
            <a:r>
              <a:t>What the Yapla assessment revealed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464808"/>
            <a:ext cx="11064240" cy="10972"/>
          </a:xfrm>
          <a:prstGeom prst="rect">
            <a:avLst/>
          </a:prstGeom>
          <a:solidFill>
            <a:srgbClr val="173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6072" y="6519672"/>
            <a:ext cx="5486400" cy="18288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B4C5D5"/>
                </a:solidFill>
                <a:latin typeface="Aptos"/>
              </a:defRPr>
            </a:pPr>
            <a:r>
              <a:t>MINECONNECT  /  CAMBRIAN COLLEGE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510528"/>
            <a:ext cx="914400" cy="20116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F2BD62"/>
                </a:solidFill>
                <a:latin typeface="Aptos"/>
              </a:defRPr>
            </a:pPr>
            <a:r>
              <a:t>07  /  21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" y="2788920"/>
            <a:ext cx="5303520" cy="2697480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76656" y="2788920"/>
            <a:ext cx="64008" cy="2697480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7824" y="3008376"/>
            <a:ext cx="4919472" cy="53035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7F8FA"/>
                </a:solidFill>
                <a:latin typeface="Aptos"/>
              </a:defRPr>
            </a:pPr>
            <a:r>
              <a:t>What I 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630168"/>
            <a:ext cx="4910328" cy="175564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B4C5D5"/>
                </a:solidFill>
                <a:latin typeface="Aptos"/>
              </a:defRPr>
            </a:pPr>
            <a:r>
              <a:t>Member records and membership types were not visible in the areas reviewed. Website structure was started; full event setup was not tested.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2788920"/>
            <a:ext cx="5303520" cy="2697480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99632" y="2788920"/>
            <a:ext cx="64008" cy="2697480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3008376"/>
            <a:ext cx="4919472" cy="53035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7F8FA"/>
                </a:solidFill>
                <a:latin typeface="Aptos"/>
              </a:defRPr>
            </a:pPr>
            <a:r>
              <a:t>What needed clarification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630168"/>
            <a:ext cx="4910328" cy="175564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B4C5D5"/>
                </a:solidFill>
                <a:latin typeface="Aptos"/>
              </a:defRPr>
            </a:pPr>
            <a:r>
              <a:t>Member imports, membership rules, payment fees, website readiness, and event registration requirements.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10972"/>
          </a:xfrm>
          <a:prstGeom prst="rect">
            <a:avLst/>
          </a:prstGeom>
          <a:solidFill>
            <a:srgbClr val="173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c-logo-canada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28600"/>
            <a:ext cx="1357701" cy="53035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936224" y="173736"/>
            <a:ext cx="786384" cy="786384"/>
          </a:xfrm>
          <a:prstGeom prst="roundRect">
            <a:avLst>
              <a:gd name="adj" fmla="val 12000"/>
            </a:avLst>
          </a:prstGeom>
          <a:solidFill>
            <a:srgbClr val="6D1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s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9376" y="246888"/>
            <a:ext cx="640080" cy="640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1280160"/>
            <a:ext cx="10058400" cy="29260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2BD62"/>
                </a:solidFill>
                <a:latin typeface="Aptos"/>
              </a:defRPr>
            </a:pPr>
            <a:r>
              <a:t>REQUIREMENTS DISCOVERY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00784"/>
            <a:ext cx="10972800" cy="6858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3100" b="1">
                <a:solidFill>
                  <a:srgbClr val="F7F8FA"/>
                </a:solidFill>
                <a:latin typeface="Aptos"/>
              </a:defRPr>
            </a:pPr>
            <a:r>
              <a:t>Membership rules require precision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464808"/>
            <a:ext cx="11064240" cy="10972"/>
          </a:xfrm>
          <a:prstGeom prst="rect">
            <a:avLst/>
          </a:prstGeom>
          <a:solidFill>
            <a:srgbClr val="173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6072" y="6519672"/>
            <a:ext cx="5486400" cy="18288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B4C5D5"/>
                </a:solidFill>
                <a:latin typeface="Aptos"/>
              </a:defRPr>
            </a:pPr>
            <a:r>
              <a:t>MINECONNECT  /  CAMBRIAN COLLEGE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510528"/>
            <a:ext cx="914400" cy="20116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F2BD62"/>
                </a:solidFill>
                <a:latin typeface="Aptos"/>
              </a:defRPr>
            </a:pPr>
            <a:r>
              <a:t>08  /  21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761488"/>
            <a:ext cx="5276088" cy="1408176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8368" y="2761488"/>
            <a:ext cx="64008" cy="1408176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" y="2980944"/>
            <a:ext cx="4892040" cy="53035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7F8FA"/>
                </a:solidFill>
                <a:latin typeface="Aptos"/>
              </a:defRPr>
            </a:pPr>
            <a:r>
              <a:t>MEMBER CATEGORIES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3602736"/>
            <a:ext cx="4882896" cy="466344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B4C5D5"/>
                </a:solidFill>
                <a:latin typeface="Aptos"/>
              </a:defRPr>
            </a:pPr>
            <a:r>
              <a:t>Corporate, Associate, Individual, subsidiary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761488"/>
            <a:ext cx="5276088" cy="1408176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90488" y="2761488"/>
            <a:ext cx="64008" cy="1408176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91655" y="2980944"/>
            <a:ext cx="4892040" cy="53035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7F8FA"/>
                </a:solidFill>
                <a:latin typeface="Aptos"/>
              </a:defRPr>
            </a:pPr>
            <a:r>
              <a:t>RENEWAL LOGIC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5" y="3602736"/>
            <a:ext cx="4882896" cy="466344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B4C5D5"/>
                </a:solidFill>
                <a:latin typeface="Aptos"/>
              </a:defRPr>
            </a:pPr>
            <a:r>
              <a:t>Fixed membership year and prorating rules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361688"/>
            <a:ext cx="5276088" cy="1408176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" y="4361688"/>
            <a:ext cx="64008" cy="1408176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9536" y="4581144"/>
            <a:ext cx="4892040" cy="53035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7F8FA"/>
                </a:solidFill>
                <a:latin typeface="Aptos"/>
              </a:defRPr>
            </a:pPr>
            <a:r>
              <a:t>DIRECTORY EXPERIENCE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" y="5202936"/>
            <a:ext cx="4882896" cy="466344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B4C5D5"/>
                </a:solidFill>
                <a:latin typeface="Aptos"/>
              </a:defRPr>
            </a:pPr>
            <a:r>
              <a:t>Search, filters, synonyms and visibility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4361688"/>
            <a:ext cx="5276088" cy="1408176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90488" y="4361688"/>
            <a:ext cx="64008" cy="1408176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91655" y="4581144"/>
            <a:ext cx="4892040" cy="53035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7F8FA"/>
                </a:solidFill>
                <a:latin typeface="Aptos"/>
              </a:defRPr>
            </a:pPr>
            <a:r>
              <a:t>MIGRATION READINESS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655" y="5202936"/>
            <a:ext cx="4882896" cy="466344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B4C5D5"/>
                </a:solidFill>
                <a:latin typeface="Aptos"/>
              </a:defRPr>
            </a:pPr>
            <a:r>
              <a:t>Source data, ownership and field mapping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10972"/>
          </a:xfrm>
          <a:prstGeom prst="rect">
            <a:avLst/>
          </a:prstGeom>
          <a:solidFill>
            <a:srgbClr val="173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c-logo-canada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28600"/>
            <a:ext cx="1357701" cy="53035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936224" y="173736"/>
            <a:ext cx="786384" cy="786384"/>
          </a:xfrm>
          <a:prstGeom prst="roundRect">
            <a:avLst>
              <a:gd name="adj" fmla="val 12000"/>
            </a:avLst>
          </a:prstGeom>
          <a:solidFill>
            <a:srgbClr val="6D1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s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9376" y="246888"/>
            <a:ext cx="640080" cy="640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1280160"/>
            <a:ext cx="10058400" cy="29260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2BD62"/>
                </a:solidFill>
                <a:latin typeface="Aptos"/>
              </a:defRPr>
            </a:pPr>
            <a:r>
              <a:t>RECOMMENDED 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00784"/>
            <a:ext cx="10972800" cy="6858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3100" b="1">
                <a:solidFill>
                  <a:srgbClr val="F7F8FA"/>
                </a:solidFill>
                <a:latin typeface="Aptos"/>
              </a:defRPr>
            </a:pPr>
            <a:r>
              <a:t>A controlled path to migration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464808"/>
            <a:ext cx="11064240" cy="10972"/>
          </a:xfrm>
          <a:prstGeom prst="rect">
            <a:avLst/>
          </a:prstGeom>
          <a:solidFill>
            <a:srgbClr val="173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6072" y="6519672"/>
            <a:ext cx="5486400" cy="18288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B4C5D5"/>
                </a:solidFill>
                <a:latin typeface="Aptos"/>
              </a:defRPr>
            </a:pPr>
            <a:r>
              <a:t>MINECONNECT  /  CAMBRIAN COLLEGE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510528"/>
            <a:ext cx="914400" cy="20116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F2BD62"/>
                </a:solidFill>
                <a:latin typeface="Aptos"/>
              </a:defRPr>
            </a:pPr>
            <a:r>
              <a:t>09  /  21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596896"/>
            <a:ext cx="10149840" cy="521207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14400" y="2596896"/>
            <a:ext cx="530352" cy="521207"/>
          </a:xfrm>
          <a:prstGeom prst="roundRect">
            <a:avLst>
              <a:gd name="adj" fmla="val 12000"/>
            </a:avLst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88136" y="2670048"/>
            <a:ext cx="320040" cy="27432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71B31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4208" y="2706624"/>
            <a:ext cx="8229600" cy="27432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F7F8FA"/>
                </a:solidFill>
                <a:latin typeface="Aptos"/>
              </a:defRPr>
            </a:pPr>
            <a:r>
              <a:t>Confirm source records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246120"/>
            <a:ext cx="10149840" cy="521207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14400" y="3246120"/>
            <a:ext cx="530352" cy="521207"/>
          </a:xfrm>
          <a:prstGeom prst="roundRect">
            <a:avLst>
              <a:gd name="adj" fmla="val 12000"/>
            </a:avLst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88136" y="3319272"/>
            <a:ext cx="320040" cy="27432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71B31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3355848"/>
            <a:ext cx="8229600" cy="27432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F7F8FA"/>
                </a:solidFill>
                <a:latin typeface="Aptos"/>
              </a:defRPr>
            </a:pPr>
            <a:r>
              <a:t>Map required fields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3895344"/>
            <a:ext cx="10149840" cy="521207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14400" y="3895344"/>
            <a:ext cx="530352" cy="521207"/>
          </a:xfrm>
          <a:prstGeom prst="roundRect">
            <a:avLst>
              <a:gd name="adj" fmla="val 12000"/>
            </a:avLst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88136" y="3968496"/>
            <a:ext cx="320040" cy="27432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71B31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64208" y="4005072"/>
            <a:ext cx="8229600" cy="27432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F7F8FA"/>
                </a:solidFill>
                <a:latin typeface="Aptos"/>
              </a:defRPr>
            </a:pPr>
            <a:r>
              <a:t>Validate membership rules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544568"/>
            <a:ext cx="10149840" cy="521207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14400" y="4544568"/>
            <a:ext cx="530352" cy="521207"/>
          </a:xfrm>
          <a:prstGeom prst="roundRect">
            <a:avLst>
              <a:gd name="adj" fmla="val 12000"/>
            </a:avLst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88136" y="4617720"/>
            <a:ext cx="320040" cy="27432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71B31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64208" y="4654296"/>
            <a:ext cx="8229600" cy="27432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F7F8FA"/>
                </a:solidFill>
                <a:latin typeface="Aptos"/>
              </a:defRPr>
            </a:pPr>
            <a:r>
              <a:t>Pilot with a small sample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5193792"/>
            <a:ext cx="10149840" cy="521207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14400" y="5193792"/>
            <a:ext cx="530352" cy="521207"/>
          </a:xfrm>
          <a:prstGeom prst="roundRect">
            <a:avLst>
              <a:gd name="adj" fmla="val 12000"/>
            </a:avLst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88136" y="5266944"/>
            <a:ext cx="320040" cy="27432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71B31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64208" y="5303520"/>
            <a:ext cx="8229600" cy="27432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F7F8FA"/>
                </a:solidFill>
                <a:latin typeface="Aptos"/>
              </a:defRPr>
            </a:pPr>
            <a:r>
              <a:t>Review results before rollout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10972"/>
          </a:xfrm>
          <a:prstGeom prst="rect">
            <a:avLst/>
          </a:prstGeom>
          <a:solidFill>
            <a:srgbClr val="173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c-logo-canada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28600"/>
            <a:ext cx="1357701" cy="53035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936224" y="173736"/>
            <a:ext cx="786384" cy="786384"/>
          </a:xfrm>
          <a:prstGeom prst="roundRect">
            <a:avLst>
              <a:gd name="adj" fmla="val 12000"/>
            </a:avLst>
          </a:prstGeom>
          <a:solidFill>
            <a:srgbClr val="6D1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s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9376" y="246888"/>
            <a:ext cx="640080" cy="640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1280160"/>
            <a:ext cx="10058400" cy="29260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2BD62"/>
                </a:solidFill>
                <a:latin typeface="Aptos"/>
              </a:defRPr>
            </a:pPr>
            <a:r>
              <a:t>INDUSTRY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00784"/>
            <a:ext cx="10972800" cy="6858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3100" b="1">
                <a:solidFill>
                  <a:srgbClr val="F7F8FA"/>
                </a:solidFill>
                <a:latin typeface="Aptos"/>
              </a:defRPr>
            </a:pPr>
            <a:r>
              <a:t>Research for an Ontario-wide MSS study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464808"/>
            <a:ext cx="11064240" cy="10972"/>
          </a:xfrm>
          <a:prstGeom prst="rect">
            <a:avLst/>
          </a:prstGeom>
          <a:solidFill>
            <a:srgbClr val="173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6072" y="6519672"/>
            <a:ext cx="5486400" cy="18288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B4C5D5"/>
                </a:solidFill>
                <a:latin typeface="Aptos"/>
              </a:defRPr>
            </a:pPr>
            <a:r>
              <a:t>MINECONNECT  /  CAMBRIAN COLLEGE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510528"/>
            <a:ext cx="914400" cy="20116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F2BD62"/>
                </a:solidFill>
                <a:latin typeface="Aptos"/>
              </a:defRPr>
            </a:pPr>
            <a:r>
              <a:t>10  /  21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16352"/>
            <a:ext cx="5303520" cy="2651760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8368" y="2816352"/>
            <a:ext cx="64008" cy="2651760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" y="3035808"/>
            <a:ext cx="4919472" cy="53035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7F8FA"/>
                </a:solidFill>
                <a:latin typeface="Aptos"/>
              </a:defRPr>
            </a:pPr>
            <a:r>
              <a:t>Research foundation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3657600"/>
            <a:ext cx="4910328" cy="170992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B4C5D5"/>
                </a:solidFill>
                <a:latin typeface="Aptos"/>
              </a:defRPr>
            </a:pPr>
            <a:r>
              <a:t>Reviewed comparable sector studies and survey methodology to inform the scope of a potential province-wide study.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816352"/>
            <a:ext cx="5303520" cy="2651760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90488" y="2816352"/>
            <a:ext cx="64008" cy="2651760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91655" y="3035808"/>
            <a:ext cx="4919472" cy="53035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7F8FA"/>
                </a:solidFill>
                <a:latin typeface="Aptos"/>
              </a:defRPr>
            </a:pPr>
            <a:r>
              <a:t>Planning outputs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5" y="3657600"/>
            <a:ext cx="4910328" cy="170992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B4C5D5"/>
                </a:solidFill>
                <a:latin typeface="Aptos"/>
              </a:defRPr>
            </a:pPr>
            <a:r>
              <a:t>Developed preliminary sampling considerations, draft RFP sections, and consultant evaluation criteria.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10972"/>
          </a:xfrm>
          <a:prstGeom prst="rect">
            <a:avLst/>
          </a:prstGeom>
          <a:solidFill>
            <a:srgbClr val="173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c-logo-canada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28600"/>
            <a:ext cx="1357701" cy="53035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936224" y="173736"/>
            <a:ext cx="786384" cy="786384"/>
          </a:xfrm>
          <a:prstGeom prst="roundRect">
            <a:avLst>
              <a:gd name="adj" fmla="val 12000"/>
            </a:avLst>
          </a:prstGeom>
          <a:solidFill>
            <a:srgbClr val="6D1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s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9376" y="246888"/>
            <a:ext cx="640080" cy="640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1280160"/>
            <a:ext cx="10058400" cy="29260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2BD62"/>
                </a:solidFill>
                <a:latin typeface="Aptos"/>
              </a:defRPr>
            </a:pPr>
            <a:r>
              <a:t>MSS STUDY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00784"/>
            <a:ext cx="10972800" cy="6858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3100" b="1">
                <a:solidFill>
                  <a:srgbClr val="F7F8FA"/>
                </a:solidFill>
                <a:latin typeface="Aptos"/>
              </a:defRPr>
            </a:pPr>
            <a:r>
              <a:t>A defensible sampling approach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464808"/>
            <a:ext cx="11064240" cy="10972"/>
          </a:xfrm>
          <a:prstGeom prst="rect">
            <a:avLst/>
          </a:prstGeom>
          <a:solidFill>
            <a:srgbClr val="173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6072" y="6519672"/>
            <a:ext cx="5486400" cy="18288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B4C5D5"/>
                </a:solidFill>
                <a:latin typeface="Aptos"/>
              </a:defRPr>
            </a:pPr>
            <a:r>
              <a:t>MINECONNECT  /  CAMBRIAN COLLEGE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510528"/>
            <a:ext cx="914400" cy="20116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F2BD62"/>
                </a:solidFill>
                <a:latin typeface="Aptos"/>
              </a:defRPr>
            </a:pPr>
            <a:r>
              <a:t>11  /  21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" y="2880360"/>
            <a:ext cx="2660904" cy="2286000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2" y="3264408"/>
            <a:ext cx="2286000" cy="43891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2100" b="1">
                <a:solidFill>
                  <a:srgbClr val="F2BD62"/>
                </a:solidFill>
                <a:latin typeface="Aptos"/>
              </a:defRPr>
            </a:pPr>
            <a:r>
              <a:t>SIZE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4069080"/>
            <a:ext cx="2240280" cy="59436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600" b="0">
                <a:solidFill>
                  <a:srgbClr val="F7F8FA"/>
                </a:solidFill>
                <a:latin typeface="Aptos"/>
              </a:defRPr>
            </a:pPr>
            <a:r>
              <a:t>Company size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66160" y="2880360"/>
            <a:ext cx="2660904" cy="2286000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39896" y="3264408"/>
            <a:ext cx="2286000" cy="43891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2100" b="1">
                <a:solidFill>
                  <a:srgbClr val="F2BD62"/>
                </a:solidFill>
                <a:latin typeface="Aptos"/>
              </a:defRPr>
            </a:pPr>
            <a:r>
              <a:t>SECTOR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39896" y="4069080"/>
            <a:ext cx="2240280" cy="59436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600" b="0">
                <a:solidFill>
                  <a:srgbClr val="F7F8FA"/>
                </a:solidFill>
                <a:latin typeface="Aptos"/>
              </a:defRPr>
            </a:pPr>
            <a:r>
              <a:t>Industry subsector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55664" y="2880360"/>
            <a:ext cx="2660904" cy="2286000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29400" y="3264408"/>
            <a:ext cx="2286000" cy="43891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2100" b="1">
                <a:solidFill>
                  <a:srgbClr val="F2BD62"/>
                </a:solidFill>
                <a:latin typeface="Aptos"/>
              </a:defRPr>
            </a:pPr>
            <a:r>
              <a:t>REGION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069080"/>
            <a:ext cx="2240280" cy="59436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600" b="0">
                <a:solidFill>
                  <a:srgbClr val="F7F8FA"/>
                </a:solidFill>
                <a:latin typeface="Aptos"/>
              </a:defRPr>
            </a:pPr>
            <a:r>
              <a:t>Geographic region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45168" y="2880360"/>
            <a:ext cx="2660904" cy="2286000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18904" y="3264408"/>
            <a:ext cx="2286000" cy="43891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2100" b="1">
                <a:solidFill>
                  <a:srgbClr val="F2BD62"/>
                </a:solidFill>
                <a:latin typeface="Aptos"/>
              </a:defRPr>
            </a:pPr>
            <a:r>
              <a:t>STATUS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18904" y="4069080"/>
            <a:ext cx="2240280" cy="59436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600" b="0">
                <a:solidFill>
                  <a:srgbClr val="F7F8FA"/>
                </a:solidFill>
                <a:latin typeface="Aptos"/>
              </a:defRPr>
            </a:pPr>
            <a:r>
              <a:t>Membership 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660136"/>
            <a:ext cx="10058400" cy="36576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B4C5D5"/>
                </a:solidFill>
                <a:latin typeface="Aptos"/>
              </a:defRPr>
            </a:pPr>
            <a:r>
              <a:t>Proposed sampling dimensions — not collected survey results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10972"/>
          </a:xfrm>
          <a:prstGeom prst="rect">
            <a:avLst/>
          </a:prstGeom>
          <a:solidFill>
            <a:srgbClr val="173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c-logo-canada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28600"/>
            <a:ext cx="1357701" cy="53035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936224" y="173736"/>
            <a:ext cx="786384" cy="786384"/>
          </a:xfrm>
          <a:prstGeom prst="roundRect">
            <a:avLst>
              <a:gd name="adj" fmla="val 12000"/>
            </a:avLst>
          </a:prstGeom>
          <a:solidFill>
            <a:srgbClr val="6D1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s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9376" y="246888"/>
            <a:ext cx="640080" cy="640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1280160"/>
            <a:ext cx="10058400" cy="29260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2BD62"/>
                </a:solidFill>
                <a:latin typeface="Aptos"/>
              </a:defRPr>
            </a:pPr>
            <a:r>
              <a:t>FORMS &amp; INFORMATION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00784"/>
            <a:ext cx="10972800" cy="6858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3100" b="1">
                <a:solidFill>
                  <a:srgbClr val="F7F8FA"/>
                </a:solidFill>
                <a:latin typeface="Aptos"/>
              </a:defRPr>
            </a:pPr>
            <a:r>
              <a:t>Digital member-visit questionnaires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464808"/>
            <a:ext cx="11064240" cy="10972"/>
          </a:xfrm>
          <a:prstGeom prst="rect">
            <a:avLst/>
          </a:prstGeom>
          <a:solidFill>
            <a:srgbClr val="173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6072" y="6519672"/>
            <a:ext cx="5486400" cy="18288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B4C5D5"/>
                </a:solidFill>
                <a:latin typeface="Aptos"/>
              </a:defRPr>
            </a:pPr>
            <a:r>
              <a:t>MINECONNECT  /  CAMBRIAN COLLEGE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510528"/>
            <a:ext cx="914400" cy="20116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F2BD62"/>
                </a:solidFill>
                <a:latin typeface="Aptos"/>
              </a:defRPr>
            </a:pPr>
            <a:r>
              <a:t>12  /  21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" y="2770632"/>
            <a:ext cx="5303520" cy="2724912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76656" y="2770632"/>
            <a:ext cx="64008" cy="2724912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7824" y="2990087"/>
            <a:ext cx="4919472" cy="53035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7F8FA"/>
                </a:solidFill>
                <a:latin typeface="Aptos"/>
              </a:defRPr>
            </a:pPr>
            <a:r>
              <a:t>Questionnaire 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611879"/>
            <a:ext cx="4910328" cy="178308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B4C5D5"/>
                </a:solidFill>
                <a:latin typeface="Aptos"/>
              </a:defRPr>
            </a:pPr>
            <a:r>
              <a:t>Reviewed short and long forms, question types, required fields, branching, and response organization.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2770632"/>
            <a:ext cx="5303520" cy="2724912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99632" y="2770632"/>
            <a:ext cx="64008" cy="2724912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2990087"/>
            <a:ext cx="4919472" cy="53035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7F8FA"/>
                </a:solidFill>
                <a:latin typeface="Aptos"/>
              </a:defRPr>
            </a:pPr>
            <a:r>
              <a:t>Practical implementation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611879"/>
            <a:ext cx="4910328" cy="178308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B4C5D5"/>
                </a:solidFill>
                <a:latin typeface="Aptos"/>
              </a:defRPr>
            </a:pPr>
            <a:r>
              <a:t>Created a Google Form; platform ownership, privacy, and access controls require organizational confirmation.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10972"/>
          </a:xfrm>
          <a:prstGeom prst="rect">
            <a:avLst/>
          </a:prstGeom>
          <a:solidFill>
            <a:srgbClr val="173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c-logo-canada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28600"/>
            <a:ext cx="1357701" cy="53035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936224" y="173736"/>
            <a:ext cx="786384" cy="786384"/>
          </a:xfrm>
          <a:prstGeom prst="roundRect">
            <a:avLst>
              <a:gd name="adj" fmla="val 12000"/>
            </a:avLst>
          </a:prstGeom>
          <a:solidFill>
            <a:srgbClr val="6D1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s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9376" y="246888"/>
            <a:ext cx="640080" cy="640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1280160"/>
            <a:ext cx="10058400" cy="29260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2BD62"/>
                </a:solidFill>
                <a:latin typeface="Aptos"/>
              </a:defRPr>
            </a:pPr>
            <a:r>
              <a:t>NEWSLETTERS, EVENTS &amp; WEBSITE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00784"/>
            <a:ext cx="10972800" cy="6858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3100" b="1">
                <a:solidFill>
                  <a:srgbClr val="F7F8FA"/>
                </a:solidFill>
                <a:latin typeface="Aptos"/>
              </a:defRPr>
            </a:pPr>
            <a:r>
              <a:t>Communications kept moving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464808"/>
            <a:ext cx="11064240" cy="10972"/>
          </a:xfrm>
          <a:prstGeom prst="rect">
            <a:avLst/>
          </a:prstGeom>
          <a:solidFill>
            <a:srgbClr val="173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6072" y="6519672"/>
            <a:ext cx="5486400" cy="18288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B4C5D5"/>
                </a:solidFill>
                <a:latin typeface="Aptos"/>
              </a:defRPr>
            </a:pPr>
            <a:r>
              <a:t>MINECONNECT  /  CAMBRIAN COLLEGE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510528"/>
            <a:ext cx="914400" cy="20116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F2BD62"/>
                </a:solidFill>
                <a:latin typeface="Aptos"/>
              </a:defRPr>
            </a:pPr>
            <a:r>
              <a:t>13  /  21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34640"/>
            <a:ext cx="3621024" cy="2697480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8368" y="2834640"/>
            <a:ext cx="64008" cy="2697480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" y="3017520"/>
            <a:ext cx="566928" cy="420624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2500" b="1">
                <a:solidFill>
                  <a:srgbClr val="F2BD6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3557016"/>
            <a:ext cx="3236976" cy="53035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7F8FA"/>
                </a:solidFill>
                <a:latin typeface="Aptos"/>
              </a:defRPr>
            </a:pPr>
            <a:r>
              <a:t>NEWSLETTERS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4142232"/>
            <a:ext cx="3227832" cy="134416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B4C5D5"/>
                </a:solidFill>
                <a:latin typeface="Aptos"/>
              </a:defRPr>
            </a:pPr>
            <a:r>
              <a:t>Preparing and updating eNews content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2834640"/>
            <a:ext cx="3621024" cy="2697480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26280" y="2834640"/>
            <a:ext cx="64008" cy="2697480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27448" y="3017520"/>
            <a:ext cx="566928" cy="420624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2500" b="1">
                <a:solidFill>
                  <a:srgbClr val="F2BD6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27448" y="3557016"/>
            <a:ext cx="3236976" cy="53035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7F8FA"/>
                </a:solidFill>
                <a:latin typeface="Aptos"/>
              </a:defRPr>
            </a:pPr>
            <a:r>
              <a:t>EVENTS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27448" y="4142232"/>
            <a:ext cx="3227832" cy="134416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B4C5D5"/>
                </a:solidFill>
                <a:latin typeface="Aptos"/>
              </a:defRPr>
            </a:pPr>
            <a:r>
              <a:t>Posting, reviewing and updating event information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94192" y="2834640"/>
            <a:ext cx="3621024" cy="2697480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394192" y="2834640"/>
            <a:ext cx="64008" cy="2697480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95360" y="3017520"/>
            <a:ext cx="566928" cy="420624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2500" b="1">
                <a:solidFill>
                  <a:srgbClr val="F2BD6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3557016"/>
            <a:ext cx="3236976" cy="53035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7F8FA"/>
                </a:solidFill>
                <a:latin typeface="Aptos"/>
              </a:defRPr>
            </a:pPr>
            <a:r>
              <a:t>WEBSITE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4142232"/>
            <a:ext cx="3227832" cy="134416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B4C5D5"/>
                </a:solidFill>
                <a:latin typeface="Aptos"/>
              </a:defRPr>
            </a:pPr>
            <a:r>
              <a:t>Content-related support and link review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10972"/>
          </a:xfrm>
          <a:prstGeom prst="rect">
            <a:avLst/>
          </a:prstGeom>
          <a:solidFill>
            <a:srgbClr val="173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c-logo-canada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28600"/>
            <a:ext cx="1357701" cy="53035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936224" y="173736"/>
            <a:ext cx="786384" cy="786384"/>
          </a:xfrm>
          <a:prstGeom prst="roundRect">
            <a:avLst>
              <a:gd name="adj" fmla="val 12000"/>
            </a:avLst>
          </a:prstGeom>
          <a:solidFill>
            <a:srgbClr val="6D1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s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9376" y="246888"/>
            <a:ext cx="640080" cy="640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1280160"/>
            <a:ext cx="10058400" cy="29260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2BD62"/>
                </a:solidFill>
                <a:latin typeface="Aptos"/>
              </a:defRPr>
            </a:pPr>
            <a:r>
              <a:t>COLLABORATION IN PRACTICE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00784"/>
            <a:ext cx="10972800" cy="6858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3100" b="1">
                <a:solidFill>
                  <a:srgbClr val="F7F8FA"/>
                </a:solidFill>
                <a:latin typeface="Aptos"/>
              </a:defRPr>
            </a:pPr>
            <a:r>
              <a:t>Creative and office contributions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464808"/>
            <a:ext cx="11064240" cy="10972"/>
          </a:xfrm>
          <a:prstGeom prst="rect">
            <a:avLst/>
          </a:prstGeom>
          <a:solidFill>
            <a:srgbClr val="173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6072" y="6519672"/>
            <a:ext cx="5486400" cy="18288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B4C5D5"/>
                </a:solidFill>
                <a:latin typeface="Aptos"/>
              </a:defRPr>
            </a:pPr>
            <a:r>
              <a:t>MINECONNECT  /  CAMBRIAN COLLEGE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510528"/>
            <a:ext cx="914400" cy="20116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F2BD62"/>
                </a:solidFill>
                <a:latin typeface="Aptos"/>
              </a:defRPr>
            </a:pPr>
            <a:r>
              <a:t>14  /  21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" y="2770632"/>
            <a:ext cx="5303520" cy="2679192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67512" y="2770632"/>
            <a:ext cx="64008" cy="2679192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990087"/>
            <a:ext cx="4919472" cy="53035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7F8FA"/>
                </a:solidFill>
                <a:latin typeface="Aptos"/>
              </a:defRPr>
            </a:pPr>
            <a:r>
              <a:t>Event promotion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611879"/>
            <a:ext cx="4910328" cy="173736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B4C5D5"/>
                </a:solidFill>
                <a:latin typeface="Aptos"/>
              </a:defRPr>
            </a:pPr>
            <a:r>
              <a:t>Prepared an initial Canva banner concept for a MineOpportunity-related event and partner-logo layout.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2770632"/>
            <a:ext cx="5303520" cy="2679192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99632" y="2770632"/>
            <a:ext cx="64008" cy="2679192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2990087"/>
            <a:ext cx="4919472" cy="53035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7F8FA"/>
                </a:solidFill>
                <a:latin typeface="Aptos"/>
              </a:defRPr>
            </a:pPr>
            <a:r>
              <a:t>Team coordination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611879"/>
            <a:ext cx="4910328" cy="173736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B4C5D5"/>
                </a:solidFill>
                <a:latin typeface="Aptos"/>
              </a:defRPr>
            </a:pPr>
            <a:r>
              <a:t>Joined meetings, prepared progress updates, clarified requirements, and supported routine office activities.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10972"/>
          </a:xfrm>
          <a:prstGeom prst="rect">
            <a:avLst/>
          </a:prstGeom>
          <a:solidFill>
            <a:srgbClr val="173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c-logo-canada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28600"/>
            <a:ext cx="1357701" cy="53035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936224" y="173736"/>
            <a:ext cx="786384" cy="786384"/>
          </a:xfrm>
          <a:prstGeom prst="roundRect">
            <a:avLst>
              <a:gd name="adj" fmla="val 12000"/>
            </a:avLst>
          </a:prstGeom>
          <a:solidFill>
            <a:srgbClr val="6D1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s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9376" y="246888"/>
            <a:ext cx="640080" cy="640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1280160"/>
            <a:ext cx="10058400" cy="29260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2BD62"/>
                </a:solidFill>
                <a:latin typeface="Aptos"/>
              </a:defRPr>
            </a:pPr>
            <a:r>
              <a:t>SELECTED DELIVERABLES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00784"/>
            <a:ext cx="10972800" cy="6858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3100" b="1">
                <a:solidFill>
                  <a:srgbClr val="F7F8FA"/>
                </a:solidFill>
                <a:latin typeface="Aptos"/>
              </a:defRPr>
            </a:pPr>
            <a:r>
              <a:t>Work products I prepared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464808"/>
            <a:ext cx="11064240" cy="10972"/>
          </a:xfrm>
          <a:prstGeom prst="rect">
            <a:avLst/>
          </a:prstGeom>
          <a:solidFill>
            <a:srgbClr val="173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6072" y="6519672"/>
            <a:ext cx="5486400" cy="18288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B4C5D5"/>
                </a:solidFill>
                <a:latin typeface="Aptos"/>
              </a:defRPr>
            </a:pPr>
            <a:r>
              <a:t>MINECONNECT  /  CAMBRIAN COLLEGE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510528"/>
            <a:ext cx="914400" cy="20116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F2BD62"/>
                </a:solidFill>
                <a:latin typeface="Aptos"/>
              </a:defRPr>
            </a:pPr>
            <a:r>
              <a:t>15  /  21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761488"/>
            <a:ext cx="5303520" cy="832104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3" y="2916936"/>
            <a:ext cx="457200" cy="4572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F2BD62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962656"/>
            <a:ext cx="4389120" cy="4572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600" b="0">
                <a:solidFill>
                  <a:srgbClr val="F7F8FA"/>
                </a:solidFill>
                <a:latin typeface="Aptos"/>
              </a:defRPr>
            </a:pPr>
            <a:r>
              <a:t>Yapla exploration and findings summary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1" y="2761488"/>
            <a:ext cx="5303520" cy="832104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73368" y="2916936"/>
            <a:ext cx="457200" cy="4572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F2BD62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31151" y="2962656"/>
            <a:ext cx="4389120" cy="4572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600" b="0">
                <a:solidFill>
                  <a:srgbClr val="F7F8FA"/>
                </a:solidFill>
                <a:latin typeface="Aptos"/>
              </a:defRPr>
            </a:pPr>
            <a:r>
              <a:t>Membership discovery review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785616"/>
            <a:ext cx="5303520" cy="832104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3" y="3941064"/>
            <a:ext cx="457200" cy="4572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F2BD62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3986784"/>
            <a:ext cx="4389120" cy="4572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600" b="0">
                <a:solidFill>
                  <a:srgbClr val="F7F8FA"/>
                </a:solidFill>
                <a:latin typeface="Aptos"/>
              </a:defRPr>
            </a:pPr>
            <a:r>
              <a:t>Placement progress updates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1" y="3785616"/>
            <a:ext cx="5303520" cy="832104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73368" y="3941064"/>
            <a:ext cx="457200" cy="4572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F2BD62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1" y="3986784"/>
            <a:ext cx="4389120" cy="4572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600" b="0">
                <a:solidFill>
                  <a:srgbClr val="F7F8FA"/>
                </a:solidFill>
                <a:latin typeface="Aptos"/>
              </a:defRPr>
            </a:pPr>
            <a:r>
              <a:t>MSS study planning notes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809744"/>
            <a:ext cx="5303520" cy="832104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2103" y="4965192"/>
            <a:ext cx="457200" cy="4572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F2BD62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9888" y="5010912"/>
            <a:ext cx="4389120" cy="4572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600" b="0">
                <a:solidFill>
                  <a:srgbClr val="F7F8FA"/>
                </a:solidFill>
                <a:latin typeface="Aptos"/>
              </a:defRPr>
            </a:pPr>
            <a:r>
              <a:t>Member questionnaire and form work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9631" y="4809744"/>
            <a:ext cx="5303520" cy="832104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73368" y="4965192"/>
            <a:ext cx="457200" cy="4572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F2BD62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1151" y="5010912"/>
            <a:ext cx="4389120" cy="4572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600" b="0">
                <a:solidFill>
                  <a:srgbClr val="F7F8FA"/>
                </a:solidFill>
                <a:latin typeface="Aptos"/>
              </a:defRPr>
            </a:pPr>
            <a:r>
              <a:t>Newsletter and event support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10972"/>
          </a:xfrm>
          <a:prstGeom prst="rect">
            <a:avLst/>
          </a:prstGeom>
          <a:solidFill>
            <a:srgbClr val="173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c-logo-canada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28600"/>
            <a:ext cx="1357701" cy="53035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936224" y="173736"/>
            <a:ext cx="786384" cy="786384"/>
          </a:xfrm>
          <a:prstGeom prst="roundRect">
            <a:avLst>
              <a:gd name="adj" fmla="val 12000"/>
            </a:avLst>
          </a:prstGeom>
          <a:solidFill>
            <a:srgbClr val="6D1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s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9376" y="246888"/>
            <a:ext cx="640080" cy="640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1280160"/>
            <a:ext cx="10058400" cy="29260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2BD62"/>
                </a:solidFill>
                <a:latin typeface="Aptos"/>
              </a:defRPr>
            </a:pPr>
            <a:r>
              <a:t>PROBLEM-SOLVING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00784"/>
            <a:ext cx="10972800" cy="6858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3100" b="1">
                <a:solidFill>
                  <a:srgbClr val="F7F8FA"/>
                </a:solidFill>
                <a:latin typeface="Aptos"/>
              </a:defRPr>
            </a:pPr>
            <a:r>
              <a:t>Challenges turned into learning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464808"/>
            <a:ext cx="11064240" cy="10972"/>
          </a:xfrm>
          <a:prstGeom prst="rect">
            <a:avLst/>
          </a:prstGeom>
          <a:solidFill>
            <a:srgbClr val="173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6072" y="6519672"/>
            <a:ext cx="5486400" cy="18288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B4C5D5"/>
                </a:solidFill>
                <a:latin typeface="Aptos"/>
              </a:defRPr>
            </a:pPr>
            <a:r>
              <a:t>MINECONNECT  /  CAMBRIAN COLLEGE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510528"/>
            <a:ext cx="914400" cy="20116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F2BD62"/>
                </a:solidFill>
                <a:latin typeface="Aptos"/>
              </a:defRPr>
            </a:pPr>
            <a:r>
              <a:t>16  /  21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779776"/>
            <a:ext cx="3621024" cy="2743200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8368" y="2779776"/>
            <a:ext cx="64008" cy="2743200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" y="2962656"/>
            <a:ext cx="566928" cy="420624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2500" b="1">
                <a:solidFill>
                  <a:srgbClr val="F2BD6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3502152"/>
            <a:ext cx="3236976" cy="53035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7F8FA"/>
                </a:solidFill>
                <a:latin typeface="Aptos"/>
              </a:defRPr>
            </a:pPr>
            <a:r>
              <a:t>New 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4087368"/>
            <a:ext cx="3227832" cy="138988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B4C5D5"/>
                </a:solidFill>
                <a:latin typeface="Aptos"/>
              </a:defRPr>
            </a:pPr>
            <a:r>
              <a:t>Used self-directed training and structured exploration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2779776"/>
            <a:ext cx="3621024" cy="2743200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26280" y="2779776"/>
            <a:ext cx="64008" cy="2743200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27448" y="2962656"/>
            <a:ext cx="566928" cy="420624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2500" b="1">
                <a:solidFill>
                  <a:srgbClr val="F2BD6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27448" y="3502152"/>
            <a:ext cx="3236976" cy="53035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7F8FA"/>
                </a:solidFill>
                <a:latin typeface="Aptos"/>
              </a:defRPr>
            </a:pPr>
            <a:r>
              <a:t>Unclear requirements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27448" y="4087368"/>
            <a:ext cx="3227832" cy="138988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B4C5D5"/>
                </a:solidFill>
                <a:latin typeface="Aptos"/>
              </a:defRPr>
            </a:pPr>
            <a:r>
              <a:t>Documented open questions instead of guessing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94192" y="2779776"/>
            <a:ext cx="3621024" cy="2743200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394192" y="2779776"/>
            <a:ext cx="64008" cy="2743200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95360" y="2962656"/>
            <a:ext cx="566928" cy="420624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2500" b="1">
                <a:solidFill>
                  <a:srgbClr val="F2BD6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3502152"/>
            <a:ext cx="3236976" cy="53035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7F8FA"/>
                </a:solidFill>
                <a:latin typeface="Aptos"/>
              </a:defRPr>
            </a:pPr>
            <a:r>
              <a:t>Multiple priorities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4087368"/>
            <a:ext cx="3227832" cy="138988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B4C5D5"/>
                </a:solidFill>
                <a:latin typeface="Aptos"/>
              </a:defRPr>
            </a:pPr>
            <a:r>
              <a:t>Balanced research, event tasks and updates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10972"/>
          </a:xfrm>
          <a:prstGeom prst="rect">
            <a:avLst/>
          </a:prstGeom>
          <a:solidFill>
            <a:srgbClr val="173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c-logo-canada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28600"/>
            <a:ext cx="1357701" cy="53035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936224" y="173736"/>
            <a:ext cx="786384" cy="786384"/>
          </a:xfrm>
          <a:prstGeom prst="roundRect">
            <a:avLst>
              <a:gd name="adj" fmla="val 12000"/>
            </a:avLst>
          </a:prstGeom>
          <a:solidFill>
            <a:srgbClr val="6D1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s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9376" y="246888"/>
            <a:ext cx="640080" cy="640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1280160"/>
            <a:ext cx="10058400" cy="29260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2BD62"/>
                </a:solidFill>
                <a:latin typeface="Aptos"/>
              </a:defRPr>
            </a:pPr>
            <a:r>
              <a:t>LEARNING OUTCOMES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00784"/>
            <a:ext cx="10972800" cy="6858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3100" b="1">
                <a:solidFill>
                  <a:srgbClr val="F7F8FA"/>
                </a:solidFill>
                <a:latin typeface="Aptos"/>
              </a:defRPr>
            </a:pPr>
            <a:r>
              <a:t>From classroom to workplace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464808"/>
            <a:ext cx="11064240" cy="10972"/>
          </a:xfrm>
          <a:prstGeom prst="rect">
            <a:avLst/>
          </a:prstGeom>
          <a:solidFill>
            <a:srgbClr val="173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6072" y="6519672"/>
            <a:ext cx="5486400" cy="18288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B4C5D5"/>
                </a:solidFill>
                <a:latin typeface="Aptos"/>
              </a:defRPr>
            </a:pPr>
            <a:r>
              <a:t>MINECONNECT  /  CAMBRIAN COLLEGE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510528"/>
            <a:ext cx="914400" cy="20116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F2BD62"/>
                </a:solidFill>
                <a:latin typeface="Aptos"/>
              </a:defRPr>
            </a:pPr>
            <a:r>
              <a:t>17  /  21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779776"/>
            <a:ext cx="5294376" cy="1435608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8368" y="2779776"/>
            <a:ext cx="64008" cy="1435608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" y="2999232"/>
            <a:ext cx="4910328" cy="53035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7F8FA"/>
                </a:solidFill>
                <a:latin typeface="Aptos"/>
              </a:defRPr>
            </a:pPr>
            <a:r>
              <a:t>REQUIREMENTS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3621024"/>
            <a:ext cx="4901184" cy="493776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B4C5D5"/>
                </a:solidFill>
                <a:latin typeface="Aptos"/>
              </a:defRPr>
            </a:pPr>
            <a:r>
              <a:t>Elicitation, analysis and documentation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779776"/>
            <a:ext cx="5294376" cy="1435608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90488" y="2779776"/>
            <a:ext cx="64008" cy="1435608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91655" y="2999232"/>
            <a:ext cx="4910328" cy="53035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7F8FA"/>
                </a:solidFill>
                <a:latin typeface="Aptos"/>
              </a:defRPr>
            </a:pPr>
            <a:r>
              <a:t>PROCESSES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5" y="3621024"/>
            <a:ext cx="4901184" cy="493776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B4C5D5"/>
                </a:solidFill>
                <a:latin typeface="Aptos"/>
              </a:defRPr>
            </a:pPr>
            <a:r>
              <a:t>Membership, renewal and form workflows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398264"/>
            <a:ext cx="5294376" cy="1435608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" y="4398264"/>
            <a:ext cx="64008" cy="1435608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9536" y="4617720"/>
            <a:ext cx="4910328" cy="53035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7F8FA"/>
                </a:solidFill>
                <a:latin typeface="Aptos"/>
              </a:defRPr>
            </a:pPr>
            <a:r>
              <a:t>STAKEHOLDERS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" y="5239512"/>
            <a:ext cx="4901184" cy="493776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B4C5D5"/>
                </a:solidFill>
                <a:latin typeface="Aptos"/>
              </a:defRPr>
            </a:pPr>
            <a:r>
              <a:t>Reporting, questions and meetings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4398264"/>
            <a:ext cx="5294376" cy="1435608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90488" y="4398264"/>
            <a:ext cx="64008" cy="1435608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91655" y="4617720"/>
            <a:ext cx="4910328" cy="53035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7F8FA"/>
                </a:solidFill>
                <a:latin typeface="Aptos"/>
              </a:defRPr>
            </a:pPr>
            <a:r>
              <a:t>PROFESSIONALISM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655" y="5239512"/>
            <a:ext cx="4901184" cy="493776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B4C5D5"/>
                </a:solidFill>
                <a:latin typeface="Aptos"/>
              </a:defRPr>
            </a:pPr>
            <a:r>
              <a:t>Adaptability and independent learning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10972"/>
          </a:xfrm>
          <a:prstGeom prst="rect">
            <a:avLst/>
          </a:prstGeom>
          <a:solidFill>
            <a:srgbClr val="173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c-logo-canada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28600"/>
            <a:ext cx="1357701" cy="53035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936224" y="173736"/>
            <a:ext cx="786384" cy="786384"/>
          </a:xfrm>
          <a:prstGeom prst="roundRect">
            <a:avLst>
              <a:gd name="adj" fmla="val 12000"/>
            </a:avLst>
          </a:prstGeom>
          <a:solidFill>
            <a:srgbClr val="6D1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s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9376" y="246888"/>
            <a:ext cx="640080" cy="640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1280160"/>
            <a:ext cx="10058400" cy="29260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2BD62"/>
                </a:solidFill>
                <a:latin typeface="Aptos"/>
              </a:defRPr>
            </a:pPr>
            <a:r>
              <a:t>OUTCOMES &amp; HANDOVER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00784"/>
            <a:ext cx="10972800" cy="6858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3100" b="1">
                <a:solidFill>
                  <a:srgbClr val="F7F8FA"/>
                </a:solidFill>
                <a:latin typeface="Aptos"/>
              </a:defRPr>
            </a:pPr>
            <a:r>
              <a:t>Value delivered — and what remains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464808"/>
            <a:ext cx="11064240" cy="10972"/>
          </a:xfrm>
          <a:prstGeom prst="rect">
            <a:avLst/>
          </a:prstGeom>
          <a:solidFill>
            <a:srgbClr val="173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6072" y="6519672"/>
            <a:ext cx="5486400" cy="18288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B4C5D5"/>
                </a:solidFill>
                <a:latin typeface="Aptos"/>
              </a:defRPr>
            </a:pPr>
            <a:r>
              <a:t>MINECONNECT  /  CAMBRIAN COLLEGE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510528"/>
            <a:ext cx="914400" cy="20116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F2BD62"/>
                </a:solidFill>
                <a:latin typeface="Aptos"/>
              </a:defRPr>
            </a:pPr>
            <a:r>
              <a:t>18  /  21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" y="2761488"/>
            <a:ext cx="5312664" cy="2743200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67512" y="2761488"/>
            <a:ext cx="64008" cy="2743200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980944"/>
            <a:ext cx="4928616" cy="53035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7F8FA"/>
                </a:solidFill>
                <a:latin typeface="Aptos"/>
              </a:defRPr>
            </a:pPr>
            <a:r>
              <a:t>My contributions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602736"/>
            <a:ext cx="4919472" cy="180136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B4C5D5"/>
                </a:solidFill>
                <a:latin typeface="Aptos"/>
              </a:defRPr>
            </a:pPr>
            <a:r>
              <a:t>Structured discovery findings, documented requirements, initial research planning, and ongoing digital communications support.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2761488"/>
            <a:ext cx="5312664" cy="2743200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99632" y="2761488"/>
            <a:ext cx="64008" cy="2743200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2980944"/>
            <a:ext cx="4928616" cy="53035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7F8FA"/>
                </a:solidFill>
                <a:latin typeface="Aptos"/>
              </a:defRPr>
            </a:pPr>
            <a:r>
              <a:t>Next-stage priorities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602736"/>
            <a:ext cx="4919472" cy="180136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B4C5D5"/>
                </a:solidFill>
                <a:latin typeface="Aptos"/>
              </a:defRPr>
            </a:pPr>
            <a:r>
              <a:t>Confirm migration method, validate business rules, finalize platform decisions, and test configured workflows.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10972"/>
          </a:xfrm>
          <a:prstGeom prst="rect">
            <a:avLst/>
          </a:prstGeom>
          <a:solidFill>
            <a:srgbClr val="173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c-logo-canada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28600"/>
            <a:ext cx="1357701" cy="53035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936224" y="173736"/>
            <a:ext cx="786384" cy="786384"/>
          </a:xfrm>
          <a:prstGeom prst="roundRect">
            <a:avLst>
              <a:gd name="adj" fmla="val 12000"/>
            </a:avLst>
          </a:prstGeom>
          <a:solidFill>
            <a:srgbClr val="6D1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s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9376" y="246888"/>
            <a:ext cx="640080" cy="640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1280160"/>
            <a:ext cx="10058400" cy="29260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2BD62"/>
                </a:solidFill>
                <a:latin typeface="Aptos"/>
              </a:defRPr>
            </a:pPr>
            <a:r>
              <a:t>ACADEMIC &amp; PLACEMENT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00784"/>
            <a:ext cx="10972800" cy="6858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3100" b="1">
                <a:solidFill>
                  <a:srgbClr val="F7F8FA"/>
                </a:solidFill>
                <a:latin typeface="Aptos"/>
              </a:defRPr>
            </a:pPr>
            <a:r>
              <a:t>Professional portfolio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464808"/>
            <a:ext cx="11064240" cy="10972"/>
          </a:xfrm>
          <a:prstGeom prst="rect">
            <a:avLst/>
          </a:prstGeom>
          <a:solidFill>
            <a:srgbClr val="173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6072" y="6519672"/>
            <a:ext cx="5486400" cy="18288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B4C5D5"/>
                </a:solidFill>
                <a:latin typeface="Aptos"/>
              </a:defRPr>
            </a:pPr>
            <a:r>
              <a:t>MINECONNECT  /  CAMBRIAN COLLEGE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510528"/>
            <a:ext cx="914400" cy="20116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F2BD62"/>
                </a:solidFill>
                <a:latin typeface="Aptos"/>
              </a:defRPr>
            </a:pPr>
            <a:r>
              <a:t>19  /  21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" y="2871216"/>
            <a:ext cx="10844784" cy="1316736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87552" y="3300984"/>
            <a:ext cx="10195560" cy="47548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F2BD62"/>
                </a:solidFill>
                <a:latin typeface="Aptos"/>
              </a:defRPr>
            </a:pPr>
            <a:r>
              <a:t>[ INSERT YOUR PROFESSIONAL PORTFOLIO LINK HERE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54880"/>
            <a:ext cx="10698480" cy="86868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B4C5D5"/>
                </a:solidFill>
                <a:latin typeface="Aptos"/>
              </a:defRPr>
            </a:pPr>
            <a:r>
              <a:t>Show one academic project and a permitted placement artifact. Obtain MineConnect approval before sharing internal materials.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10972"/>
          </a:xfrm>
          <a:prstGeom prst="rect">
            <a:avLst/>
          </a:prstGeom>
          <a:solidFill>
            <a:srgbClr val="173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c-logo-canada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28600"/>
            <a:ext cx="1357701" cy="53035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936224" y="173736"/>
            <a:ext cx="786384" cy="786384"/>
          </a:xfrm>
          <a:prstGeom prst="roundRect">
            <a:avLst>
              <a:gd name="adj" fmla="val 12000"/>
            </a:avLst>
          </a:prstGeom>
          <a:solidFill>
            <a:srgbClr val="6D1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s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9376" y="246888"/>
            <a:ext cx="640080" cy="640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1280160"/>
            <a:ext cx="10058400" cy="29260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2BD62"/>
                </a:solidFill>
                <a:latin typeface="Aptos"/>
              </a:defRPr>
            </a:pPr>
            <a:r>
              <a:t>REFLECTION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00784"/>
            <a:ext cx="10972800" cy="6858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3100" b="1">
                <a:solidFill>
                  <a:srgbClr val="F7F8FA"/>
                </a:solidFill>
                <a:latin typeface="Aptos"/>
              </a:defRPr>
            </a:pPr>
            <a:r>
              <a:t>What I will take forward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464808"/>
            <a:ext cx="11064240" cy="10972"/>
          </a:xfrm>
          <a:prstGeom prst="rect">
            <a:avLst/>
          </a:prstGeom>
          <a:solidFill>
            <a:srgbClr val="173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6072" y="6519672"/>
            <a:ext cx="5486400" cy="18288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B4C5D5"/>
                </a:solidFill>
                <a:latin typeface="Aptos"/>
              </a:defRPr>
            </a:pPr>
            <a:r>
              <a:t>MINECONNECT  /  CAMBRIAN COLLEGE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510528"/>
            <a:ext cx="914400" cy="20116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F2BD62"/>
                </a:solidFill>
                <a:latin typeface="Aptos"/>
              </a:defRPr>
            </a:pPr>
            <a:r>
              <a:t>20  /  21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07208"/>
            <a:ext cx="3621024" cy="2743200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8368" y="2807208"/>
            <a:ext cx="64008" cy="2743200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" y="2990088"/>
            <a:ext cx="566928" cy="420624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2500" b="1">
                <a:solidFill>
                  <a:srgbClr val="F2BD6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3529584"/>
            <a:ext cx="3236976" cy="53035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7F8FA"/>
                </a:solidFill>
                <a:latin typeface="Aptos"/>
              </a:defRPr>
            </a:pPr>
            <a:r>
              <a:t>ASK BETTER QUESTIONS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4114800"/>
            <a:ext cx="3227832" cy="138988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B4C5D5"/>
                </a:solidFill>
                <a:latin typeface="Aptos"/>
              </a:defRPr>
            </a:pPr>
            <a:r>
              <a:t>Distinguish assumptions from confirmed requirements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2807208"/>
            <a:ext cx="3621024" cy="2743200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26280" y="2807208"/>
            <a:ext cx="64008" cy="2743200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27448" y="2990088"/>
            <a:ext cx="566928" cy="420624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2500" b="1">
                <a:solidFill>
                  <a:srgbClr val="F2BD6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27448" y="3529584"/>
            <a:ext cx="3236976" cy="53035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7F8FA"/>
                </a:solidFill>
                <a:latin typeface="Aptos"/>
              </a:defRPr>
            </a:pPr>
            <a:r>
              <a:t>DOCUMENT CLEARLY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27448" y="4114800"/>
            <a:ext cx="3227832" cy="138988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B4C5D5"/>
                </a:solidFill>
                <a:latin typeface="Aptos"/>
              </a:defRPr>
            </a:pPr>
            <a:r>
              <a:t>Create materials colleagues can act 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94192" y="2807208"/>
            <a:ext cx="3621024" cy="2743200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394192" y="2807208"/>
            <a:ext cx="64008" cy="2743200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95360" y="2990088"/>
            <a:ext cx="566928" cy="420624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2500" b="1">
                <a:solidFill>
                  <a:srgbClr val="F2BD6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3529584"/>
            <a:ext cx="3236976" cy="530352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7F8FA"/>
                </a:solidFill>
                <a:latin typeface="Aptos"/>
              </a:defRPr>
            </a:pPr>
            <a:r>
              <a:t>CONNECT BUSINESS &amp;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4114800"/>
            <a:ext cx="3227832" cy="138988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B4C5D5"/>
                </a:solidFill>
                <a:latin typeface="Aptos"/>
              </a:defRPr>
            </a:pPr>
            <a:r>
              <a:t>Consider people, data, workflows and decisions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10972"/>
          </a:xfrm>
          <a:prstGeom prst="rect">
            <a:avLst/>
          </a:prstGeom>
          <a:solidFill>
            <a:srgbClr val="173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c-logo-canada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28600"/>
            <a:ext cx="1357701" cy="53035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936224" y="173736"/>
            <a:ext cx="786384" cy="786384"/>
          </a:xfrm>
          <a:prstGeom prst="roundRect">
            <a:avLst>
              <a:gd name="adj" fmla="val 12000"/>
            </a:avLst>
          </a:prstGeom>
          <a:solidFill>
            <a:srgbClr val="6D1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s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9376" y="246888"/>
            <a:ext cx="640080" cy="640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1280160"/>
            <a:ext cx="10058400" cy="29260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2BD62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00784"/>
            <a:ext cx="10972800" cy="68580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3100" b="1">
                <a:solidFill>
                  <a:srgbClr val="F7F8FA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464808"/>
            <a:ext cx="11064240" cy="10972"/>
          </a:xfrm>
          <a:prstGeom prst="rect">
            <a:avLst/>
          </a:prstGeom>
          <a:solidFill>
            <a:srgbClr val="173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6072" y="6519672"/>
            <a:ext cx="5486400" cy="18288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B4C5D5"/>
                </a:solidFill>
                <a:latin typeface="Aptos"/>
              </a:defRPr>
            </a:pPr>
            <a:r>
              <a:t>MINECONNECT  /  CAMBRIAN COLLEGE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510528"/>
            <a:ext cx="914400" cy="20116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F2BD62"/>
                </a:solidFill>
                <a:latin typeface="Aptos"/>
              </a:defRPr>
            </a:pPr>
            <a:r>
              <a:t>21  /  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72384"/>
            <a:ext cx="9144000" cy="73152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3400" b="1">
                <a:solidFill>
                  <a:srgbClr val="F7F8FA"/>
                </a:solidFill>
                <a:latin typeface="Aptos"/>
              </a:defRPr>
            </a:pPr>
            <a:r>
              <a:t>MUHAMMAD HARIS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3977639"/>
            <a:ext cx="1965960" cy="64008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" y="4389120"/>
            <a:ext cx="10058400" cy="731520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spcAft>
                <a:spcPts val="200"/>
              </a:spcAft>
              <a:defRPr sz="2000" b="0">
                <a:solidFill>
                  <a:srgbClr val="B4C5D5"/>
                </a:solidFill>
                <a:latin typeface="Aptos"/>
              </a:defRPr>
            </a:pPr>
            <a:r>
              <a:t>IT Business Analysis  •  MineConnect  •  Cambrian College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1543</Words>
  <Application>Microsoft Macintosh PowerPoint</Application>
  <PresentationFormat>Widescreen</PresentationFormat>
  <Paragraphs>259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Muhammad Haris</cp:lastModifiedBy>
  <cp:revision>2</cp:revision>
  <dcterms:created xsi:type="dcterms:W3CDTF">2013-01-27T09:14:16Z</dcterms:created>
  <dcterms:modified xsi:type="dcterms:W3CDTF">2026-10-20T17:51:41Z</dcterms:modified>
  <cp:category/>
</cp:coreProperties>
</file>